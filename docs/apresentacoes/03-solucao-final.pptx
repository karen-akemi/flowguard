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B9EC07-E58C-4022-9518-A080493FFB35}" v="4" dt="2026-08-29T00:09:59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en Oliveira" userId="c401374e3aaade11" providerId="LiveId" clId="{714FDE36-937E-4522-A808-4EDE2FD20106}"/>
    <pc:docChg chg="undo custSel modSld">
      <pc:chgData name="Karen Oliveira" userId="c401374e3aaade11" providerId="LiveId" clId="{714FDE36-937E-4522-A808-4EDE2FD20106}" dt="2026-08-29T00:12:20.618" v="70" actId="1036"/>
      <pc:docMkLst>
        <pc:docMk/>
      </pc:docMkLst>
      <pc:sldChg chg="addSp modSp mod">
        <pc:chgData name="Karen Oliveira" userId="c401374e3aaade11" providerId="LiveId" clId="{714FDE36-937E-4522-A808-4EDE2FD20106}" dt="2026-08-29T00:11:17.888" v="17" actId="20577"/>
        <pc:sldMkLst>
          <pc:docMk/>
          <pc:sldMk cId="0" sldId="257"/>
        </pc:sldMkLst>
        <pc:spChg chg="mod">
          <ac:chgData name="Karen Oliveira" userId="c401374e3aaade11" providerId="LiveId" clId="{714FDE36-937E-4522-A808-4EDE2FD20106}" dt="2026-08-29T00:09:59.099" v="3" actId="164"/>
          <ac:spMkLst>
            <pc:docMk/>
            <pc:sldMk cId="0" sldId="257"/>
            <ac:spMk id="6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59.099" v="3" actId="164"/>
          <ac:spMkLst>
            <pc:docMk/>
            <pc:sldMk cId="0" sldId="257"/>
            <ac:spMk id="7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51.232" v="2" actId="164"/>
          <ac:spMkLst>
            <pc:docMk/>
            <pc:sldMk cId="0" sldId="257"/>
            <ac:spMk id="8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51.232" v="2" actId="164"/>
          <ac:spMkLst>
            <pc:docMk/>
            <pc:sldMk cId="0" sldId="257"/>
            <ac:spMk id="9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45.895" v="1" actId="164"/>
          <ac:spMkLst>
            <pc:docMk/>
            <pc:sldMk cId="0" sldId="257"/>
            <ac:spMk id="10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45.895" v="1" actId="164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09:40.045" v="0" actId="164"/>
          <ac:spMkLst>
            <pc:docMk/>
            <pc:sldMk cId="0" sldId="257"/>
            <ac:spMk id="12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17.888" v="17" actId="20577"/>
          <ac:spMkLst>
            <pc:docMk/>
            <pc:sldMk cId="0" sldId="257"/>
            <ac:spMk id="13" creationId="{00000000-0000-0000-0000-000000000000}"/>
          </ac:spMkLst>
        </pc:spChg>
        <pc:grpChg chg="add mod">
          <ac:chgData name="Karen Oliveira" userId="c401374e3aaade11" providerId="LiveId" clId="{714FDE36-937E-4522-A808-4EDE2FD20106}" dt="2026-08-29T00:10:35.379" v="9" actId="12789"/>
          <ac:grpSpMkLst>
            <pc:docMk/>
            <pc:sldMk cId="0" sldId="257"/>
            <ac:grpSpMk id="18" creationId="{79B958C2-1F1F-6923-BE1E-8D35335B3F41}"/>
          </ac:grpSpMkLst>
        </pc:grpChg>
        <pc:grpChg chg="add mod">
          <ac:chgData name="Karen Oliveira" userId="c401374e3aaade11" providerId="LiveId" clId="{714FDE36-937E-4522-A808-4EDE2FD20106}" dt="2026-08-29T00:10:35.379" v="9" actId="12789"/>
          <ac:grpSpMkLst>
            <pc:docMk/>
            <pc:sldMk cId="0" sldId="257"/>
            <ac:grpSpMk id="19" creationId="{A2AC459F-F111-A179-5109-2D16B782942F}"/>
          </ac:grpSpMkLst>
        </pc:grpChg>
        <pc:grpChg chg="add mod">
          <ac:chgData name="Karen Oliveira" userId="c401374e3aaade11" providerId="LiveId" clId="{714FDE36-937E-4522-A808-4EDE2FD20106}" dt="2026-08-29T00:10:35.379" v="9" actId="12789"/>
          <ac:grpSpMkLst>
            <pc:docMk/>
            <pc:sldMk cId="0" sldId="257"/>
            <ac:grpSpMk id="20" creationId="{969A4D2B-0360-CCA9-69BB-AF9B884EF28B}"/>
          </ac:grpSpMkLst>
        </pc:grpChg>
        <pc:grpChg chg="add mod">
          <ac:chgData name="Karen Oliveira" userId="c401374e3aaade11" providerId="LiveId" clId="{714FDE36-937E-4522-A808-4EDE2FD20106}" dt="2026-08-29T00:10:35.379" v="9" actId="12789"/>
          <ac:grpSpMkLst>
            <pc:docMk/>
            <pc:sldMk cId="0" sldId="257"/>
            <ac:grpSpMk id="21" creationId="{1814EF9B-86EC-6E6C-47A1-E08431FE0643}"/>
          </ac:grpSpMkLst>
        </pc:grpChg>
      </pc:sldChg>
      <pc:sldChg chg="modSp mod">
        <pc:chgData name="Karen Oliveira" userId="c401374e3aaade11" providerId="LiveId" clId="{714FDE36-937E-4522-A808-4EDE2FD20106}" dt="2026-08-29T00:12:20.618" v="70" actId="1036"/>
        <pc:sldMkLst>
          <pc:docMk/>
          <pc:sldMk cId="0" sldId="258"/>
        </pc:sldMkLst>
        <pc:spChg chg="mod">
          <ac:chgData name="Karen Oliveira" userId="c401374e3aaade11" providerId="LiveId" clId="{714FDE36-937E-4522-A808-4EDE2FD20106}" dt="2026-08-29T00:12:20.618" v="70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2:15.053" v="63" actId="10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2:15.053" v="63" actId="1036"/>
          <ac:spMkLst>
            <pc:docMk/>
            <pc:sldMk cId="0" sldId="258"/>
            <ac:spMk id="6" creationId="{00000000-0000-0000-0000-000000000000}"/>
          </ac:spMkLst>
        </pc:spChg>
      </pc:sldChg>
      <pc:sldChg chg="modSp mod">
        <pc:chgData name="Karen Oliveira" userId="c401374e3aaade11" providerId="LiveId" clId="{714FDE36-937E-4522-A808-4EDE2FD20106}" dt="2026-08-29T00:11:47.886" v="52" actId="1035"/>
        <pc:sldMkLst>
          <pc:docMk/>
          <pc:sldMk cId="0" sldId="260"/>
        </pc:sldMkLst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4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5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6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7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8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11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0.360" v="19" actId="1076"/>
          <ac:spMkLst>
            <pc:docMk/>
            <pc:sldMk cId="0" sldId="260"/>
            <ac:spMk id="13" creationId="{00000000-0000-0000-0000-000000000000}"/>
          </ac:spMkLst>
        </pc:spChg>
        <pc:spChg chg="mod">
          <ac:chgData name="Karen Oliveira" userId="c401374e3aaade11" providerId="LiveId" clId="{714FDE36-937E-4522-A808-4EDE2FD20106}" dt="2026-08-29T00:11:47.886" v="52" actId="1035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2A1A54"/>
              </a:gs>
              <a:gs pos="100000">
                <a:srgbClr val="7C3AED"/>
              </a:gs>
            </a:gsLst>
            <a:lin ang="186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5943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CHALLENGE  </a:t>
            </a:r>
            <a:r>
              <a:rPr sz="1300" b="1" i="0">
                <a:solidFill>
                  <a:srgbClr val="E11D2E"/>
                </a:solidFill>
                <a:latin typeface="Calibri"/>
              </a:rPr>
              <a:t>|  LOCAWEB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4D9FA"/>
                </a:solidFill>
                <a:latin typeface="Arial"/>
              </a:rPr>
              <a:t>FLOW</a:t>
            </a:r>
            <a:r>
              <a:rPr sz="6000" b="1" i="0">
                <a:solidFill>
                  <a:srgbClr val="FFFFFF"/>
                </a:solidFill>
                <a:latin typeface="Arial"/>
              </a:rPr>
              <a:t>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3703320"/>
            <a:ext cx="8899855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4D9FA"/>
                </a:solidFill>
                <a:latin typeface="Calibri"/>
              </a:rPr>
              <a:t>Plataforma de AIOps que monitora, prevê e prioriza riscos operacionais da Locaweb.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18407" y="4617720"/>
            <a:ext cx="4754880" cy="50292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18407" y="461772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SPRINT 4  ·  SOLUÇÃO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722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BB9F0"/>
                </a:solidFill>
                <a:latin typeface="Calibri"/>
              </a:rPr>
              <a:t>Grupo FIVESIGHT   ·   Turma 2TSCPV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1 · DETALHES INICIAIS DA EQUIPE E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9552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1432"/>
                </a:solidFill>
                <a:latin typeface="Arial"/>
              </a:rPr>
              <a:t>FlowGuard — Grupo FIVESIGHT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746B8C"/>
                </a:solidFill>
                <a:latin typeface="Calibri"/>
              </a:rPr>
              <a:t>Turma 2TSCPV</a:t>
            </a:r>
            <a:r>
              <a:rPr sz="1250" b="0" i="0">
                <a:solidFill>
                  <a:srgbClr val="746B8C"/>
                </a:solidFill>
                <a:latin typeface="Calibri"/>
              </a:rPr>
              <a:t>   ·   Enterprise Challenge FIAP × Locaweb 2026</a:t>
            </a: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1814EF9B-86EC-6E6C-47A1-E08431FE0643}"/>
              </a:ext>
            </a:extLst>
          </p:cNvPr>
          <p:cNvGrpSpPr/>
          <p:nvPr/>
        </p:nvGrpSpPr>
        <p:grpSpPr>
          <a:xfrm>
            <a:off x="868680" y="1866065"/>
            <a:ext cx="1965960" cy="1892809"/>
            <a:chOff x="868680" y="1874519"/>
            <a:chExt cx="1965960" cy="1892809"/>
          </a:xfrm>
        </p:grpSpPr>
        <p:sp>
          <p:nvSpPr>
            <p:cNvPr id="6" name="Oval 5"/>
            <p:cNvSpPr/>
            <p:nvPr/>
          </p:nvSpPr>
          <p:spPr>
            <a:xfrm>
              <a:off x="1234440" y="1874519"/>
              <a:ext cx="1234440" cy="1234440"/>
            </a:xfrm>
            <a:prstGeom prst="ellipse">
              <a:avLst/>
            </a:prstGeom>
            <a:solidFill>
              <a:srgbClr val="6D28D9"/>
            </a:solidFill>
            <a:ln w="28575">
              <a:solidFill>
                <a:srgbClr val="C9B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i="0" dirty="0">
                  <a:solidFill>
                    <a:srgbClr val="FFFFFF"/>
                  </a:solidFill>
                  <a:latin typeface="Arial"/>
                </a:rPr>
                <a:t>AN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68680" y="3218688"/>
              <a:ext cx="1965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1050" b="0" i="0" dirty="0">
                  <a:solidFill>
                    <a:srgbClr val="746B8C"/>
                  </a:solidFill>
                  <a:latin typeface="Calibri"/>
                </a:rPr>
                <a:t>RM 566254</a:t>
              </a:r>
            </a:p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 dirty="0">
                  <a:solidFill>
                    <a:srgbClr val="241432"/>
                  </a:solidFill>
                  <a:latin typeface="Calibri"/>
                </a:rPr>
                <a:t>Arthur Nishiyama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969A4D2B-0360-CCA9-69BB-AF9B884EF28B}"/>
              </a:ext>
            </a:extLst>
          </p:cNvPr>
          <p:cNvGrpSpPr/>
          <p:nvPr/>
        </p:nvGrpSpPr>
        <p:grpSpPr>
          <a:xfrm>
            <a:off x="3703320" y="1866065"/>
            <a:ext cx="1965960" cy="1892809"/>
            <a:chOff x="2286000" y="1874519"/>
            <a:chExt cx="1965960" cy="1892809"/>
          </a:xfrm>
        </p:grpSpPr>
        <p:sp>
          <p:nvSpPr>
            <p:cNvPr id="8" name="Oval 7"/>
            <p:cNvSpPr/>
            <p:nvPr/>
          </p:nvSpPr>
          <p:spPr>
            <a:xfrm>
              <a:off x="2651760" y="1874519"/>
              <a:ext cx="1234440" cy="1234440"/>
            </a:xfrm>
            <a:prstGeom prst="ellipse">
              <a:avLst/>
            </a:prstGeom>
            <a:solidFill>
              <a:srgbClr val="7C3AED"/>
            </a:solidFill>
            <a:ln w="28575">
              <a:solidFill>
                <a:srgbClr val="C9B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Arial"/>
                </a:rPr>
                <a:t>DS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286000" y="3218688"/>
              <a:ext cx="1965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1050" b="0" i="0">
                  <a:solidFill>
                    <a:srgbClr val="746B8C"/>
                  </a:solidFill>
                  <a:latin typeface="Calibri"/>
                </a:rPr>
                <a:t>RM 561541</a:t>
              </a:r>
            </a:p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>
                  <a:solidFill>
                    <a:srgbClr val="241432"/>
                  </a:solidFill>
                  <a:latin typeface="Calibri"/>
                </a:rPr>
                <a:t>Diogo Santana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2AC459F-F111-A179-5109-2D16B782942F}"/>
              </a:ext>
            </a:extLst>
          </p:cNvPr>
          <p:cNvGrpSpPr/>
          <p:nvPr/>
        </p:nvGrpSpPr>
        <p:grpSpPr>
          <a:xfrm>
            <a:off x="6537960" y="1866065"/>
            <a:ext cx="1965960" cy="1892809"/>
            <a:chOff x="3703320" y="1874519"/>
            <a:chExt cx="1965960" cy="1892809"/>
          </a:xfrm>
        </p:grpSpPr>
        <p:sp>
          <p:nvSpPr>
            <p:cNvPr id="10" name="Oval 9"/>
            <p:cNvSpPr/>
            <p:nvPr/>
          </p:nvSpPr>
          <p:spPr>
            <a:xfrm>
              <a:off x="4069080" y="1874519"/>
              <a:ext cx="1234440" cy="1234440"/>
            </a:xfrm>
            <a:prstGeom prst="ellipse">
              <a:avLst/>
            </a:prstGeom>
            <a:solidFill>
              <a:srgbClr val="9061E8"/>
            </a:solidFill>
            <a:ln w="28575">
              <a:solidFill>
                <a:srgbClr val="C9B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i="0" dirty="0">
                  <a:solidFill>
                    <a:srgbClr val="FFFFFF"/>
                  </a:solidFill>
                  <a:latin typeface="Arial"/>
                </a:rPr>
                <a:t>IM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703320" y="3218688"/>
              <a:ext cx="1965960" cy="54864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1050" b="0" i="0" dirty="0">
                  <a:solidFill>
                    <a:srgbClr val="746B8C"/>
                  </a:solidFill>
                  <a:latin typeface="Calibri"/>
                </a:rPr>
                <a:t>RM 562481</a:t>
              </a:r>
            </a:p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 dirty="0">
                  <a:solidFill>
                    <a:srgbClr val="241432"/>
                  </a:solidFill>
                  <a:latin typeface="Calibri"/>
                </a:rPr>
                <a:t>Isabella Mattar</a:t>
              </a:r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79B958C2-1F1F-6923-BE1E-8D35335B3F41}"/>
              </a:ext>
            </a:extLst>
          </p:cNvPr>
          <p:cNvGrpSpPr/>
          <p:nvPr/>
        </p:nvGrpSpPr>
        <p:grpSpPr>
          <a:xfrm>
            <a:off x="9372600" y="1866065"/>
            <a:ext cx="1965960" cy="1736649"/>
            <a:chOff x="5120640" y="1874519"/>
            <a:chExt cx="1965960" cy="1736649"/>
          </a:xfrm>
        </p:grpSpPr>
        <p:sp>
          <p:nvSpPr>
            <p:cNvPr id="12" name="Oval 11"/>
            <p:cNvSpPr/>
            <p:nvPr/>
          </p:nvSpPr>
          <p:spPr>
            <a:xfrm>
              <a:off x="5486400" y="1874519"/>
              <a:ext cx="1234440" cy="1234440"/>
            </a:xfrm>
            <a:prstGeom prst="ellipse">
              <a:avLst/>
            </a:prstGeom>
            <a:solidFill>
              <a:srgbClr val="543098"/>
            </a:solidFill>
            <a:ln w="28575">
              <a:solidFill>
                <a:srgbClr val="C9B8F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600" b="1" i="0">
                  <a:solidFill>
                    <a:srgbClr val="FFFFFF"/>
                  </a:solidFill>
                  <a:latin typeface="Arial"/>
                </a:rPr>
                <a:t>KA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20640" y="3218688"/>
              <a:ext cx="1965960" cy="3924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ct val="115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1050" b="0" i="0" dirty="0">
                  <a:solidFill>
                    <a:srgbClr val="746B8C"/>
                  </a:solidFill>
                  <a:latin typeface="Calibri"/>
                </a:rPr>
                <a:t>RM 562733</a:t>
              </a:r>
            </a:p>
            <a:p>
              <a:pPr algn="ctr">
                <a:lnSpc>
                  <a:spcPct val="105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1" i="0" dirty="0">
                  <a:solidFill>
                    <a:srgbClr val="241432"/>
                  </a:solidFill>
                  <a:latin typeface="Calibri"/>
                </a:rPr>
                <a:t>Karen </a:t>
              </a:r>
              <a:r>
                <a:rPr lang="pt-BR" sz="1250" b="1" i="0" dirty="0">
                  <a:solidFill>
                    <a:srgbClr val="241432"/>
                  </a:solidFill>
                  <a:latin typeface="Calibri"/>
                </a:rPr>
                <a:t>Oliveira</a:t>
              </a:r>
              <a:endParaRPr sz="1250" b="1" i="0" dirty="0">
                <a:solidFill>
                  <a:srgbClr val="241432"/>
                </a:solidFill>
                <a:latin typeface="Calibri"/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68680" y="3913632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SOLUÇÃO FINAL: DESCRIÇÃO RESUMIDA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06240"/>
            <a:ext cx="10469880" cy="2148840"/>
          </a:xfrm>
          <a:prstGeom prst="roundRect">
            <a:avLst>
              <a:gd name="adj" fmla="val 6000"/>
            </a:avLst>
          </a:prstGeom>
          <a:solidFill>
            <a:srgbClr val="ED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34440" y="4389120"/>
            <a:ext cx="97383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241432"/>
                </a:solidFill>
                <a:latin typeface="Calibri"/>
              </a:rPr>
              <a:t>O FlowGuard é uma plataforma de </a:t>
            </a:r>
            <a:r>
              <a:rPr sz="1450" b="1" i="1">
                <a:solidFill>
                  <a:srgbClr val="241432"/>
                </a:solidFill>
                <a:latin typeface="Calibri"/>
              </a:rPr>
              <a:t>AIOps</a:t>
            </a:r>
            <a:r>
              <a:rPr sz="1450" b="0" i="0">
                <a:solidFill>
                  <a:srgbClr val="241432"/>
                </a:solidFill>
                <a:latin typeface="Calibri"/>
              </a:rPr>
              <a:t> que transforma a operação de suporte da Locaweb de reativa para preditiva: monitora o histórico de incidentes (</a:t>
            </a:r>
            <a:r>
              <a:rPr sz="1450" b="1" i="0">
                <a:solidFill>
                  <a:srgbClr val="241432"/>
                </a:solidFill>
                <a:latin typeface="Calibri"/>
              </a:rPr>
              <a:t>122.543 registros</a:t>
            </a:r>
            <a:r>
              <a:rPr sz="1450" b="0" i="0">
                <a:solidFill>
                  <a:srgbClr val="241432"/>
                </a:solidFill>
                <a:latin typeface="Calibri"/>
              </a:rPr>
              <a:t> entre 2023 e 2025), prevê o volume de chamados em </a:t>
            </a:r>
            <a:r>
              <a:rPr sz="1450" b="1" i="0">
                <a:solidFill>
                  <a:srgbClr val="241432"/>
                </a:solidFill>
                <a:latin typeface="Calibri"/>
              </a:rPr>
              <a:t>D+1 e D+7</a:t>
            </a:r>
            <a:r>
              <a:rPr sz="1450" b="0" i="0">
                <a:solidFill>
                  <a:srgbClr val="241432"/>
                </a:solidFill>
                <a:latin typeface="Calibri"/>
              </a:rPr>
              <a:t> e sinaliza o risco de quebra de OLA antes que ele se concretize.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241432"/>
                </a:solidFill>
                <a:latin typeface="Calibri"/>
              </a:rPr>
              <a:t>Na Sprint 4, a solução está operacional de ponta a ponta: um </a:t>
            </a:r>
            <a:r>
              <a:rPr sz="1450" b="1" i="0">
                <a:solidFill>
                  <a:srgbClr val="241432"/>
                </a:solidFill>
                <a:latin typeface="Calibri"/>
              </a:rPr>
              <a:t>dashboard em Power BI</a:t>
            </a:r>
            <a:r>
              <a:rPr sz="1450" b="0" i="0">
                <a:solidFill>
                  <a:srgbClr val="241432"/>
                </a:solidFill>
                <a:latin typeface="Calibri"/>
              </a:rPr>
              <a:t> consolida o monitoramento e os KPIs de OLA, enquanto um motor preditivo baseado em regressão </a:t>
            </a:r>
            <a:r>
              <a:rPr sz="1450" b="1" i="0">
                <a:solidFill>
                  <a:srgbClr val="241432"/>
                </a:solidFill>
                <a:latin typeface="Calibri"/>
              </a:rPr>
              <a:t>Poisson (GLM)</a:t>
            </a:r>
            <a:r>
              <a:rPr sz="1450" b="0" i="0">
                <a:solidFill>
                  <a:srgbClr val="241432"/>
                </a:solidFill>
                <a:latin typeface="Calibri"/>
              </a:rPr>
              <a:t> roda como serviço containerizado no Azure, consultando um banco de dados gerenciado e expondo uma API pública.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FlowGuard  ·  Grupo FIVESIGHT  ·  Turma 2TSCPV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2 · COMPREENDENDO O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5591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 dirty="0" err="1">
                <a:solidFill>
                  <a:srgbClr val="241432"/>
                </a:solidFill>
                <a:latin typeface="Arial"/>
              </a:rPr>
              <a:t>Contextualização</a:t>
            </a:r>
            <a:r>
              <a:rPr sz="2700" b="1" i="0" dirty="0">
                <a:solidFill>
                  <a:srgbClr val="241432"/>
                </a:solidFill>
                <a:latin typeface="Arial"/>
              </a:rPr>
              <a:t> </a:t>
            </a:r>
            <a:r>
              <a:rPr sz="2700" b="1" i="0" dirty="0" err="1">
                <a:solidFill>
                  <a:srgbClr val="241432"/>
                </a:solidFill>
                <a:latin typeface="Arial"/>
              </a:rPr>
              <a:t>Atualizada</a:t>
            </a:r>
            <a:r>
              <a:rPr sz="2700" b="1" i="0" dirty="0">
                <a:solidFill>
                  <a:srgbClr val="241432"/>
                </a:solidFill>
                <a:latin typeface="Arial"/>
              </a:rPr>
              <a:t> do </a:t>
            </a:r>
            <a:r>
              <a:rPr sz="2700" b="1" i="0" dirty="0" err="1">
                <a:solidFill>
                  <a:srgbClr val="241432"/>
                </a:solidFill>
                <a:latin typeface="Arial"/>
              </a:rPr>
              <a:t>Desafio</a:t>
            </a:r>
            <a:endParaRPr sz="2700" b="1" i="0" dirty="0">
              <a:solidFill>
                <a:srgbClr val="241432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" y="1320700"/>
            <a:ext cx="10469880" cy="4480560"/>
          </a:xfrm>
          <a:prstGeom prst="roundRect">
            <a:avLst>
              <a:gd name="adj" fmla="val 5000"/>
            </a:avLst>
          </a:prstGeom>
          <a:solidFill>
            <a:srgbClr val="ED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640740"/>
            <a:ext cx="96469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41432"/>
                </a:solidFill>
                <a:latin typeface="Calibri"/>
              </a:rPr>
              <a:t>A Locaweb opera uma infraestrutura de hospedagem 24x7 que soma </a:t>
            </a:r>
            <a:r>
              <a:rPr sz="1550" b="1" i="0">
                <a:solidFill>
                  <a:srgbClr val="241432"/>
                </a:solidFill>
                <a:latin typeface="Calibri"/>
              </a:rPr>
              <a:t>122.543 incidentes</a:t>
            </a:r>
            <a:r>
              <a:rPr sz="1550" b="0" i="0">
                <a:solidFill>
                  <a:srgbClr val="241432"/>
                </a:solidFill>
                <a:latin typeface="Calibri"/>
              </a:rPr>
              <a:t> registrados entre janeiro de 2023 e dezembro de 2025. A Análise Exploratória de Dados confirmou o cenário reativo descrito nas sprints anteriores e revelou um ponto crítico adicional.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41432"/>
                </a:solidFill>
                <a:latin typeface="Calibri"/>
              </a:rPr>
              <a:t>A partir de setembro de 2025, o volume mensal salta de ~3.500 para mais de </a:t>
            </a:r>
            <a:r>
              <a:rPr sz="1550" b="1" i="0">
                <a:solidFill>
                  <a:srgbClr val="241432"/>
                </a:solidFill>
                <a:latin typeface="Calibri"/>
              </a:rPr>
              <a:t>21.000 incidentes (+439,6%)</a:t>
            </a:r>
            <a:r>
              <a:rPr sz="1550" b="0" i="0">
                <a:solidFill>
                  <a:srgbClr val="241432"/>
                </a:solidFill>
                <a:latin typeface="Calibri"/>
              </a:rPr>
              <a:t>, impulsionado pela automação da abertura de chamados via Monitoramento, que passa a responder por quase 95% das aberturas.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600"/>
              </a:spcAft>
            </a:pPr>
            <a:r>
              <a:rPr sz="1550" b="0" i="0">
                <a:solidFill>
                  <a:srgbClr val="241432"/>
                </a:solidFill>
                <a:latin typeface="Calibri"/>
              </a:rPr>
              <a:t>Apesar do salto de volume, a </a:t>
            </a:r>
            <a:r>
              <a:rPr sz="1550" b="1" i="0">
                <a:solidFill>
                  <a:srgbClr val="241432"/>
                </a:solidFill>
                <a:latin typeface="Calibri"/>
              </a:rPr>
              <a:t>taxa de violação de OLA não piora</a:t>
            </a:r>
            <a:r>
              <a:rPr sz="1550" b="0" i="0">
                <a:solidFill>
                  <a:srgbClr val="241432"/>
                </a:solidFill>
                <a:latin typeface="Calibri"/>
              </a:rPr>
              <a:t> — ela cai para os menores patamares do ano no mesmo período (0,47%), pois os incidentes automatizados são resolvidos mais rápido que os manuais.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241432"/>
                </a:solidFill>
                <a:latin typeface="Calibri"/>
              </a:rPr>
              <a:t>Sem visibilidade preditiva, a operação não tem como saber, de antemão, se um salto de volume representa risco real ou apenas mudança de processo — e equipes como a </a:t>
            </a:r>
            <a:r>
              <a:rPr sz="1550" b="1" i="0">
                <a:solidFill>
                  <a:srgbClr val="241432"/>
                </a:solidFill>
                <a:latin typeface="Calibri"/>
              </a:rPr>
              <a:t>Team14, que concentra 76,1% dos incidentes de 2025</a:t>
            </a:r>
            <a:r>
              <a:rPr sz="1550" b="0" i="0">
                <a:solidFill>
                  <a:srgbClr val="241432"/>
                </a:solidFill>
                <a:latin typeface="Calibri"/>
              </a:rPr>
              <a:t>, continuam reagindo a essas oscilações.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FlowGuard  ·  Grupo FIVESIGHT  ·  Turma 2TSCPV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3 · OBJETIVO DO PROJETO AO DESAFIO PROPOSTO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9552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1432"/>
                </a:solidFill>
                <a:latin typeface="Arial"/>
              </a:rPr>
              <a:t>Objetivo Atual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07008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3D3355"/>
                </a:solidFill>
                <a:latin typeface="Calibri"/>
              </a:rPr>
              <a:t>Consolidar o FlowGuard como uma plataforma de AIOps operacional que permite à Locaweb migrar de uma gestão reativa para uma gestão preditiva de incidentes, apoiada em quatro frentes de atuação:</a:t>
            </a:r>
          </a:p>
        </p:txBody>
      </p:sp>
      <p:sp>
        <p:nvSpPr>
          <p:cNvPr id="6" name="Chevron 5"/>
          <p:cNvSpPr/>
          <p:nvPr/>
        </p:nvSpPr>
        <p:spPr>
          <a:xfrm>
            <a:off x="868680" y="2148840"/>
            <a:ext cx="2740914" cy="777240"/>
          </a:xfrm>
          <a:prstGeom prst="chevron">
            <a:avLst>
              <a:gd name="adj" fmla="val 22000"/>
            </a:avLst>
          </a:prstGeom>
          <a:solidFill>
            <a:srgbClr val="906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MONITORAR</a:t>
            </a:r>
          </a:p>
        </p:txBody>
      </p:sp>
      <p:sp>
        <p:nvSpPr>
          <p:cNvPr id="7" name="Chevron 6"/>
          <p:cNvSpPr/>
          <p:nvPr/>
        </p:nvSpPr>
        <p:spPr>
          <a:xfrm>
            <a:off x="3499865" y="2148840"/>
            <a:ext cx="2740914" cy="777240"/>
          </a:xfrm>
          <a:prstGeom prst="chevron">
            <a:avLst>
              <a:gd name="adj" fmla="val 22000"/>
            </a:avLst>
          </a:prstGeom>
          <a:solidFill>
            <a:srgbClr val="844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PREVER</a:t>
            </a:r>
          </a:p>
        </p:txBody>
      </p:sp>
      <p:sp>
        <p:nvSpPr>
          <p:cNvPr id="8" name="Chevron 7"/>
          <p:cNvSpPr/>
          <p:nvPr/>
        </p:nvSpPr>
        <p:spPr>
          <a:xfrm>
            <a:off x="6131052" y="2148840"/>
            <a:ext cx="2740914" cy="777240"/>
          </a:xfrm>
          <a:prstGeom prst="chevron">
            <a:avLst>
              <a:gd name="adj" fmla="val 22000"/>
            </a:avLst>
          </a:prstGeom>
          <a:solidFill>
            <a:srgbClr val="783B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PRIORIZAR</a:t>
            </a:r>
          </a:p>
        </p:txBody>
      </p:sp>
      <p:sp>
        <p:nvSpPr>
          <p:cNvPr id="9" name="Chevron 8"/>
          <p:cNvSpPr/>
          <p:nvPr/>
        </p:nvSpPr>
        <p:spPr>
          <a:xfrm>
            <a:off x="8762238" y="2148840"/>
            <a:ext cx="2740914" cy="777240"/>
          </a:xfrm>
          <a:prstGeom prst="chevron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AGIR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90672"/>
            <a:ext cx="262204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Acompanhar continuamente volume e qualidade do atendimento por meio dos KPIs de OLA (Total, Elegíveis, Taxa de Violação e Mediana da Duração).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9865" y="3090672"/>
            <a:ext cx="262204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Prever o volume diário de incidentes elegíveis a OLA em D+1 e D+7, batendo de forma estatisticamente consistente um baseline sazonal ingênuo.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1052" y="3090672"/>
            <a:ext cx="262204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Priorizar equipes, categorias e produtos com maior concentração de risco de violação de OLA.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2238" y="3090672"/>
            <a:ext cx="2622041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Apoiar a decisão operacional com API pública e dashboard interativo, reduzindo o tempo de reação a picos de demanda.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FlowGuard  ·  Grupo FIVESIGHT  ·  Turma 2TSCPV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4 · DETALHES DO PROJETO REALIZADO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92493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1432"/>
                </a:solidFill>
                <a:latin typeface="Arial"/>
              </a:rPr>
              <a:t>Proposta Atualizada da Solução</a:t>
            </a:r>
          </a:p>
        </p:txBody>
      </p:sp>
      <p:sp>
        <p:nvSpPr>
          <p:cNvPr id="5" name="Chevron 4"/>
          <p:cNvSpPr/>
          <p:nvPr/>
        </p:nvSpPr>
        <p:spPr>
          <a:xfrm>
            <a:off x="868680" y="1363842"/>
            <a:ext cx="2214676" cy="685800"/>
          </a:xfrm>
          <a:prstGeom prst="chevron">
            <a:avLst>
              <a:gd name="adj" fmla="val 22000"/>
            </a:avLst>
          </a:prstGeom>
          <a:solidFill>
            <a:srgbClr val="906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INGESTÃO</a:t>
            </a:r>
          </a:p>
        </p:txBody>
      </p:sp>
      <p:sp>
        <p:nvSpPr>
          <p:cNvPr id="6" name="Chevron 5"/>
          <p:cNvSpPr/>
          <p:nvPr/>
        </p:nvSpPr>
        <p:spPr>
          <a:xfrm>
            <a:off x="2973628" y="1363842"/>
            <a:ext cx="2214676" cy="685800"/>
          </a:xfrm>
          <a:prstGeom prst="chevron">
            <a:avLst>
              <a:gd name="adj" fmla="val 22000"/>
            </a:avLst>
          </a:prstGeom>
          <a:solidFill>
            <a:srgbClr val="875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PERSISTÊNCIA</a:t>
            </a:r>
          </a:p>
        </p:txBody>
      </p:sp>
      <p:sp>
        <p:nvSpPr>
          <p:cNvPr id="7" name="Chevron 6"/>
          <p:cNvSpPr/>
          <p:nvPr/>
        </p:nvSpPr>
        <p:spPr>
          <a:xfrm>
            <a:off x="5078577" y="1363842"/>
            <a:ext cx="2214676" cy="685800"/>
          </a:xfrm>
          <a:prstGeom prst="chevron">
            <a:avLst>
              <a:gd name="adj" fmla="val 22000"/>
            </a:avLst>
          </a:prstGeom>
          <a:solidFill>
            <a:srgbClr val="7E4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EXECUÇÃO</a:t>
            </a:r>
          </a:p>
        </p:txBody>
      </p:sp>
      <p:sp>
        <p:nvSpPr>
          <p:cNvPr id="8" name="Chevron 7"/>
          <p:cNvSpPr/>
          <p:nvPr/>
        </p:nvSpPr>
        <p:spPr>
          <a:xfrm>
            <a:off x="7183526" y="1363842"/>
            <a:ext cx="2214676" cy="685800"/>
          </a:xfrm>
          <a:prstGeom prst="chevron">
            <a:avLst>
              <a:gd name="adj" fmla="val 22000"/>
            </a:avLst>
          </a:prstGeom>
          <a:solidFill>
            <a:srgbClr val="7536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MODELAGEM</a:t>
            </a:r>
          </a:p>
        </p:txBody>
      </p:sp>
      <p:sp>
        <p:nvSpPr>
          <p:cNvPr id="9" name="Chevron 8"/>
          <p:cNvSpPr/>
          <p:nvPr/>
        </p:nvSpPr>
        <p:spPr>
          <a:xfrm>
            <a:off x="9288475" y="1363842"/>
            <a:ext cx="2214676" cy="685800"/>
          </a:xfrm>
          <a:prstGeom prst="chevron">
            <a:avLst>
              <a:gd name="adj" fmla="val 2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25603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VISUALIZAÇÃO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14234"/>
            <a:ext cx="20958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3D3355"/>
                </a:solidFill>
                <a:latin typeface="Calibri"/>
              </a:rPr>
              <a:t>LW-DATASET.xlsx (122.543 </a:t>
            </a:r>
            <a:r>
              <a:rPr sz="1050" b="0" i="0" dirty="0" err="1">
                <a:solidFill>
                  <a:srgbClr val="3D3355"/>
                </a:solidFill>
                <a:latin typeface="Calibri"/>
              </a:rPr>
              <a:t>incidentes</a:t>
            </a:r>
            <a:r>
              <a:rPr sz="1050" b="0" i="0" dirty="0">
                <a:solidFill>
                  <a:srgbClr val="3D3355"/>
                </a:solidFill>
                <a:latin typeface="Calibri"/>
              </a:rPr>
              <a:t>) no Azure Blob Storage.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3628" y="2214234"/>
            <a:ext cx="20958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dirty="0">
                <a:solidFill>
                  <a:srgbClr val="3D3355"/>
                </a:solidFill>
                <a:latin typeface="Calibri"/>
              </a:rPr>
              <a:t>Azure Database for MySQL (Burstable B1ms, 20 GB).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8577" y="2214234"/>
            <a:ext cx="20958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API FastAPI containerizada no Azure Container Instances.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3526" y="2214234"/>
            <a:ext cx="20958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Poisson GLM treinado sobre incidentes elegíveis a OLA de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8475" y="2214234"/>
            <a:ext cx="2095804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D3355"/>
                </a:solidFill>
                <a:latin typeface="Calibri"/>
              </a:rPr>
              <a:t>Power BI: páginas de KPIs, Análises KPI, AED e Duração.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11880"/>
            <a:ext cx="10469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RESULTADOS NO TESTE (56 DIAS · 03/11 A 28/12/2025)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93192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39" y="404164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14,10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1432"/>
                </a:solidFill>
                <a:latin typeface="Calibri"/>
              </a:rPr>
              <a:t>MAE em D+1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incidentes/dia de erro médio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931920"/>
            <a:ext cx="3291840" cy="1417320"/>
          </a:xfrm>
          <a:prstGeom prst="roundRect">
            <a:avLst>
              <a:gd name="adj" fmla="val 10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80560" y="4041648"/>
            <a:ext cx="30175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0,95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1432"/>
                </a:solidFill>
                <a:latin typeface="Calibri"/>
              </a:rPr>
              <a:t>MASE em D+1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erro relativo ao baseline ingênuo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931920"/>
            <a:ext cx="3520440" cy="1417320"/>
          </a:xfrm>
          <a:prstGeom prst="roundRect">
            <a:avLst>
              <a:gd name="adj" fmla="val 10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4041648"/>
            <a:ext cx="3246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6D28D9"/>
                </a:solidFill>
                <a:latin typeface="Arial"/>
              </a:rPr>
              <a:t>p = 0,031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41432"/>
                </a:solidFill>
                <a:latin typeface="Calibri"/>
              </a:rPr>
              <a:t>Ganho estatístico em D+1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backtest walk-forward vs.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532120"/>
            <a:ext cx="10469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41432"/>
                </a:solidFill>
                <a:latin typeface="Calibri"/>
              </a:rPr>
              <a:t>Transparência: </a:t>
            </a:r>
            <a:r>
              <a:rPr sz="1200" b="0" i="1">
                <a:solidFill>
                  <a:srgbClr val="746B8C"/>
                </a:solidFill>
                <a:latin typeface="Calibri"/>
              </a:rPr>
              <a:t>em D+7 o modelo empata com o baseline sazonal (p = 0,148) — resultado reportado sem maquiagem.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FlowGuard  ·  Grupo FIVESIGHT  ·  Turma 2TSCPV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5 · DEMONSTRAÇÃO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9552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1432"/>
                </a:solidFill>
                <a:latin typeface="Arial"/>
              </a:rPr>
              <a:t>Demonstração da Solução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5120640" cy="777240"/>
          </a:xfrm>
          <a:prstGeom prst="roundRect">
            <a:avLst>
              <a:gd name="adj" fmla="val 1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1234440"/>
            <a:ext cx="460857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6D28D9"/>
                </a:solidFill>
                <a:latin typeface="Calibri"/>
              </a:rPr>
              <a:t>LINK DA API (MOTOR PREDITIVO EM PRODUÇÃO)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flowguard-2569.southafricanorth.azurecontainer.io:8000/docs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2606040" cy="777240"/>
          </a:xfrm>
          <a:prstGeom prst="roundRect">
            <a:avLst>
              <a:gd name="adj" fmla="val 1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28232" y="1234440"/>
            <a:ext cx="2093976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6D28D9"/>
                </a:solidFill>
                <a:latin typeface="Calibri"/>
              </a:rPr>
              <a:t>DASHBOARD POWER BI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[inserir link público]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234440"/>
            <a:ext cx="2423160" cy="777240"/>
          </a:xfrm>
          <a:prstGeom prst="roundRect">
            <a:avLst>
              <a:gd name="adj" fmla="val 1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71432" y="1234440"/>
            <a:ext cx="191109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6D28D9"/>
                </a:solidFill>
                <a:latin typeface="Calibri"/>
              </a:rPr>
              <a:t>REPOSITÓRIO (GITHUB)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[inserir link]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2402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5875">
            <a:solidFill>
              <a:srgbClr val="C9B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2423160"/>
            <a:ext cx="46634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🖼  PRINT A INSERIR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1432"/>
                </a:solidFill>
                <a:latin typeface="Calibri"/>
              </a:rPr>
              <a:t>Página "Visão Geral" do dashboard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6B8C"/>
                </a:solidFill>
                <a:latin typeface="Calibri"/>
              </a:rPr>
              <a:t>Cartões de Total de Incidentes, Incidentes Elegíveis ao KPI, KPIs Violados e Taxa de Violação (Ano = 2025).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5875">
            <a:solidFill>
              <a:srgbClr val="C9B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423160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🖼  PRINT A INSERIR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1432"/>
                </a:solidFill>
                <a:latin typeface="Calibri"/>
              </a:rPr>
              <a:t>Página "Análises KPI"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6B8C"/>
                </a:solidFill>
                <a:latin typeface="Calibri"/>
              </a:rPr>
              <a:t>Taxa de violação e quantidade de KPIs violados por Categoria, Equipe, Prioridade e Produto.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0690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5875">
            <a:solidFill>
              <a:srgbClr val="C9B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251960"/>
            <a:ext cx="46634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🖼  PRINT A INSERIR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1432"/>
                </a:solidFill>
                <a:latin typeface="Calibri"/>
              </a:rPr>
              <a:t>Endpoint /modelo da API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6B8C"/>
                </a:solidFill>
                <a:latin typeface="Calibri"/>
              </a:rPr>
              <a:t>Ficha técnica do motor preditivo (Poisson GLM) exposta publicamente.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069080"/>
            <a:ext cx="5166360" cy="169164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5875">
            <a:solidFill>
              <a:srgbClr val="C9B8F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251960"/>
            <a:ext cx="470916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🖼  PRINT A INSERIR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41432"/>
                </a:solidFill>
                <a:latin typeface="Calibri"/>
              </a:rPr>
              <a:t>Endpoint /prever (POST)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46B8C"/>
                </a:solidFill>
                <a:latin typeface="Calibri"/>
              </a:rPr>
              <a:t>Previsão de volume gerada em tempo real pelo container em execução no Azure.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69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41432"/>
                </a:solidFill>
                <a:latin typeface="Calibri"/>
              </a:rPr>
              <a:t>Uso real: </a:t>
            </a:r>
            <a:r>
              <a:rPr sz="1150" b="0" i="0">
                <a:solidFill>
                  <a:srgbClr val="746B8C"/>
                </a:solidFill>
                <a:latin typeface="Calibri"/>
              </a:rPr>
              <a:t>a equipe de operação consulta a API para saber quantos incidentes esperar amanhã e na semana; gestores usam o Power BI para priorizar equipes com maior risco de violação de OLA.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0080" y="55778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SEÇÃO 6 · LINK DO VÍDEO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795528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41432"/>
                </a:solidFill>
                <a:latin typeface="Arial"/>
              </a:rPr>
              <a:t>Vídeo Pitch da Solução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234440"/>
            <a:ext cx="10469880" cy="777240"/>
          </a:xfrm>
          <a:prstGeom prst="roundRect">
            <a:avLst>
              <a:gd name="adj" fmla="val 1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" y="1234440"/>
            <a:ext cx="99578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1" i="0">
                <a:solidFill>
                  <a:srgbClr val="6D28D9"/>
                </a:solidFill>
                <a:latin typeface="Calibri"/>
              </a:rPr>
              <a:t>LINK DO VÍDEO PITCH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[inserir link público — YouTube/Drive, com acesso compartilhado, após a gravação]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514600"/>
            <a:ext cx="3429000" cy="5029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INTRODUÇÃO  ·  ~1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2004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3383280"/>
            <a:ext cx="302666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Equipe FIVESIGHT e contextualização do desafio de AIOps da Locaweb.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514600"/>
            <a:ext cx="3429000" cy="5029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25146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PROBLEMA, SOLUÇÃO E VALOR  ·  ~3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004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3383280"/>
            <a:ext cx="302666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Motor preditivo Poisson GLM em produção no Azure, dashboard Power BI e resultados obtidos (MAE 14,10 em D+1).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2514600"/>
            <a:ext cx="3429000" cy="5029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09560" y="2514600"/>
            <a:ext cx="3429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ENCERRAMENTO  ·  ~1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20040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F6F2FE"/>
          </a:solidFill>
          <a:ln w="12700">
            <a:solidFill>
              <a:srgbClr val="C9B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10728" y="3383280"/>
            <a:ext cx="3026664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41432"/>
                </a:solidFill>
                <a:latin typeface="Calibri"/>
              </a:rPr>
              <a:t>Agradecimentos e aprendizados da equipe.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746B8C"/>
                </a:solidFill>
                <a:latin typeface="Calibri"/>
              </a:rPr>
              <a:t>FlowGuard  ·  Grupo FIVESIGHT  ·  Turma 2TSCPV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03504"/>
            <a:ext cx="54864" cy="31089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548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CONCLUSÃO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rial"/>
              </a:rPr>
              <a:t>FLOW</a:t>
            </a:r>
            <a:r>
              <a:rPr sz="4600" b="1" i="0">
                <a:solidFill>
                  <a:srgbClr val="2A1A54"/>
                </a:solidFill>
                <a:latin typeface="Arial"/>
              </a:rPr>
              <a:t>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9875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41432"/>
                </a:solidFill>
                <a:latin typeface="Calibri"/>
              </a:rPr>
              <a:t>evoluiu de uma ideia (Sprints 1 e 2) para uma </a:t>
            </a:r>
            <a:r>
              <a:rPr sz="1600" b="1" i="0">
                <a:solidFill>
                  <a:srgbClr val="241432"/>
                </a:solidFill>
                <a:latin typeface="Calibri"/>
              </a:rPr>
              <a:t>solução operacional</a:t>
            </a:r>
            <a:r>
              <a:rPr sz="1600" b="0" i="0">
                <a:solidFill>
                  <a:srgbClr val="241432"/>
                </a:solidFill>
                <a:latin typeface="Calibri"/>
              </a:rPr>
              <a:t>: motor preditivo em produção na nuvem, banco de dados gerenciado, API pública e dashboard interativo, com previsões que batem de forma </a:t>
            </a:r>
            <a:r>
              <a:rPr sz="1600" b="1" i="0">
                <a:solidFill>
                  <a:srgbClr val="241432"/>
                </a:solidFill>
                <a:latin typeface="Calibri"/>
              </a:rPr>
              <a:t>estatisticamente consistente</a:t>
            </a:r>
            <a:r>
              <a:rPr sz="1600" b="0" i="0">
                <a:solidFill>
                  <a:srgbClr val="241432"/>
                </a:solidFill>
                <a:latin typeface="Calibri"/>
              </a:rPr>
              <a:t> um baseline sazonal em D+1.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3063240"/>
            <a:ext cx="10469880" cy="182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33649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A1A54"/>
                </a:solidFill>
                <a:latin typeface="Calibri"/>
              </a:rPr>
              <a:t>Aprendizados-chave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Integrar disciplinas diferentes exigiu alinhar definições (volume bruto x elegível a OLA) para contar a mesma história.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Reportar o empate do D+7 com transparência constrói mais credibilidade do que só mostrar ganhos.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3429000"/>
            <a:ext cx="33649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A1A54"/>
                </a:solidFill>
                <a:latin typeface="Calibri"/>
              </a:rPr>
              <a:t>Limitações enfrentadas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Azure for Students restringiu a região e bloqueou o ACR Tasks, exigindo execução alternativa em container.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Cobertura da banda P90 abaixo do nominal (73% em D+1, 64% em D+7); calendário de feriados cobre só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64424" y="3429000"/>
            <a:ext cx="3364992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350" b="1" i="0">
                <a:solidFill>
                  <a:srgbClr val="2A1A54"/>
                </a:solidFill>
                <a:latin typeface="Calibri"/>
              </a:rPr>
              <a:t>Próximos passos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Publicar o link definitivo do Power BI Service e integrar a previsão da API na página de Predição.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•  </a:t>
            </a:r>
            <a:r>
              <a:rPr sz="1150" b="0" i="0">
                <a:solidFill>
                  <a:srgbClr val="3D3355"/>
                </a:solidFill>
                <a:latin typeface="Calibri"/>
              </a:rPr>
              <a:t>Estender o calendário de feriados para 2026 e evoluir Priorizar/Agir (dimensionamento + Power Automate).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1160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Karen Oliveira</cp:lastModifiedBy>
  <cp:revision>1</cp:revision>
  <dcterms:created xsi:type="dcterms:W3CDTF">2013-01-27T09:14:16Z</dcterms:created>
  <dcterms:modified xsi:type="dcterms:W3CDTF">2026-08-29T00:12:27Z</dcterms:modified>
  <cp:category/>
</cp:coreProperties>
</file>