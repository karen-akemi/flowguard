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2" r:id="rId6"/>
  </p:sldMasterIdLst>
  <p:notesMasterIdLst>
    <p:notesMasterId r:id="rId21"/>
  </p:notesMasterIdLst>
  <p:sldIdLst>
    <p:sldId id="374" r:id="rId7"/>
    <p:sldId id="354" r:id="rId8"/>
    <p:sldId id="359" r:id="rId9"/>
    <p:sldId id="266" r:id="rId10"/>
    <p:sldId id="360" r:id="rId11"/>
    <p:sldId id="364" r:id="rId12"/>
    <p:sldId id="361" r:id="rId13"/>
    <p:sldId id="362" r:id="rId14"/>
    <p:sldId id="363" r:id="rId15"/>
    <p:sldId id="365" r:id="rId16"/>
    <p:sldId id="366" r:id="rId17"/>
    <p:sldId id="367" r:id="rId18"/>
    <p:sldId id="372" r:id="rId19"/>
    <p:sldId id="373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7" autoAdjust="0"/>
  </p:normalViewPr>
  <p:slideViewPr>
    <p:cSldViewPr snapToGrid="0">
      <p:cViewPr varScale="1">
        <p:scale>
          <a:sx n="75" d="100"/>
          <a:sy n="75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de Cássia Rodrigues" userId="S::pf0102@fiap.com.br::b32710f7-8521-4fe1-8cdd-1070fada222d" providerId="AD" clId="Web-{B038992B-5ABE-868E-9B14-3BDA5A40A4E7}"/>
    <pc:docChg chg="addSld delSld modSld">
      <pc:chgData name="Rita de Cássia Rodrigues" userId="S::pf0102@fiap.com.br::b32710f7-8521-4fe1-8cdd-1070fada222d" providerId="AD" clId="Web-{B038992B-5ABE-868E-9B14-3BDA5A40A4E7}" dt="2024-10-02T12:00:48.592" v="38" actId="20577"/>
      <pc:docMkLst>
        <pc:docMk/>
      </pc:docMkLst>
      <pc:sldChg chg="modSp del">
        <pc:chgData name="Rita de Cássia Rodrigues" userId="S::pf0102@fiap.com.br::b32710f7-8521-4fe1-8cdd-1070fada222d" providerId="AD" clId="Web-{B038992B-5ABE-868E-9B14-3BDA5A40A4E7}" dt="2024-10-02T11:59:36.074" v="11"/>
        <pc:sldMkLst>
          <pc:docMk/>
          <pc:sldMk cId="218013336" sldId="257"/>
        </pc:sldMkLst>
        <pc:spChg chg="mod">
          <ac:chgData name="Rita de Cássia Rodrigues" userId="S::pf0102@fiap.com.br::b32710f7-8521-4fe1-8cdd-1070fada222d" providerId="AD" clId="Web-{B038992B-5ABE-868E-9B14-3BDA5A40A4E7}" dt="2024-10-02T11:57:05.303" v="9" actId="20577"/>
          <ac:spMkLst>
            <pc:docMk/>
            <pc:sldMk cId="218013336" sldId="257"/>
            <ac:spMk id="3" creationId="{00000000-0000-0000-0000-000000000000}"/>
          </ac:spMkLst>
        </pc:spChg>
      </pc:sldChg>
      <pc:sldChg chg="modSp add">
        <pc:chgData name="Rita de Cássia Rodrigues" userId="S::pf0102@fiap.com.br::b32710f7-8521-4fe1-8cdd-1070fada222d" providerId="AD" clId="Web-{B038992B-5ABE-868E-9B14-3BDA5A40A4E7}" dt="2024-10-02T12:00:30.998" v="24" actId="20577"/>
        <pc:sldMkLst>
          <pc:docMk/>
          <pc:sldMk cId="2293242101" sldId="258"/>
        </pc:sldMkLst>
        <pc:spChg chg="mod">
          <ac:chgData name="Rita de Cássia Rodrigues" userId="S::pf0102@fiap.com.br::b32710f7-8521-4fe1-8cdd-1070fada222d" providerId="AD" clId="Web-{B038992B-5ABE-868E-9B14-3BDA5A40A4E7}" dt="2024-10-02T12:00:30.998" v="24" actId="20577"/>
          <ac:spMkLst>
            <pc:docMk/>
            <pc:sldMk cId="2293242101" sldId="258"/>
            <ac:spMk id="2" creationId="{00000000-0000-0000-0000-000000000000}"/>
          </ac:spMkLst>
        </pc:spChg>
      </pc:sldChg>
      <pc:sldChg chg="add replId">
        <pc:chgData name="Rita de Cássia Rodrigues" userId="S::pf0102@fiap.com.br::b32710f7-8521-4fe1-8cdd-1070fada222d" providerId="AD" clId="Web-{B038992B-5ABE-868E-9B14-3BDA5A40A4E7}" dt="2024-10-02T11:59:10.198" v="10"/>
        <pc:sldMkLst>
          <pc:docMk/>
          <pc:sldMk cId="488761975" sldId="282"/>
        </pc:sldMkLst>
      </pc:sldChg>
      <pc:sldChg chg="modSp add">
        <pc:chgData name="Rita de Cássia Rodrigues" userId="S::pf0102@fiap.com.br::b32710f7-8521-4fe1-8cdd-1070fada222d" providerId="AD" clId="Web-{B038992B-5ABE-868E-9B14-3BDA5A40A4E7}" dt="2024-10-02T12:00:05.544" v="18" actId="20577"/>
        <pc:sldMkLst>
          <pc:docMk/>
          <pc:sldMk cId="3366264448" sldId="283"/>
        </pc:sldMkLst>
        <pc:spChg chg="mod">
          <ac:chgData name="Rita de Cássia Rodrigues" userId="S::pf0102@fiap.com.br::b32710f7-8521-4fe1-8cdd-1070fada222d" providerId="AD" clId="Web-{B038992B-5ABE-868E-9B14-3BDA5A40A4E7}" dt="2024-10-02T12:00:05.544" v="18" actId="20577"/>
          <ac:spMkLst>
            <pc:docMk/>
            <pc:sldMk cId="3366264448" sldId="283"/>
            <ac:spMk id="2" creationId="{00000000-0000-0000-0000-000000000000}"/>
          </ac:spMkLst>
        </pc:spChg>
      </pc:sldChg>
      <pc:sldChg chg="modSp add">
        <pc:chgData name="Rita de Cássia Rodrigues" userId="S::pf0102@fiap.com.br::b32710f7-8521-4fe1-8cdd-1070fada222d" providerId="AD" clId="Web-{B038992B-5ABE-868E-9B14-3BDA5A40A4E7}" dt="2024-10-02T12:00:48.592" v="38" actId="20577"/>
        <pc:sldMkLst>
          <pc:docMk/>
          <pc:sldMk cId="1608922987" sldId="351"/>
        </pc:sldMkLst>
        <pc:spChg chg="mod">
          <ac:chgData name="Rita de Cássia Rodrigues" userId="S::pf0102@fiap.com.br::b32710f7-8521-4fe1-8cdd-1070fada222d" providerId="AD" clId="Web-{B038992B-5ABE-868E-9B14-3BDA5A40A4E7}" dt="2024-10-02T12:00:48.592" v="38" actId="20577"/>
          <ac:spMkLst>
            <pc:docMk/>
            <pc:sldMk cId="1608922987" sldId="35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3B869-AC43-4AC6-B500-3E98EB848CD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5EE02-47A6-4AE1-83C6-75098439652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90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63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618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406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068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91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525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85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073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760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540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224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314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7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373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adrão do plano de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3734" y="2660145"/>
            <a:ext cx="6724532" cy="76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0161" y="4081331"/>
            <a:ext cx="3471679" cy="4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 l="20963" r="20963"/>
          <a:stretch/>
        </p:blipFill>
        <p:spPr>
          <a:xfrm>
            <a:off x="5585953" y="2009024"/>
            <a:ext cx="1020095" cy="30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C8FCA2-4BD9-067C-E92F-96972B58E8D1}"/>
              </a:ext>
            </a:extLst>
          </p:cNvPr>
          <p:cNvSpPr txBox="1"/>
          <p:nvPr/>
        </p:nvSpPr>
        <p:spPr>
          <a:xfrm>
            <a:off x="93726" y="3539766"/>
            <a:ext cx="12004547" cy="359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2B579A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 SPRINT 2, </a:t>
            </a:r>
            <a:r>
              <a:rPr lang="pt-B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 grupos devem desenvolver a arquitetura inicial da solução definida, detalhando os principais componentes técnicos e a integração entre eles.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pt-BR" sz="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Também é esperado nessa sprint apresentar as tecnologias que serão utilizadas na solução e apresentar protótipos iniciais da interface ou funcionalidades, bem como estruturar o planejamento de gestão do projeto (incluindo cronograma e divisão de tarefas). 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entregável de seu grup</a:t>
            </a:r>
            <a:r>
              <a:rPr lang="pt-B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nessa sprint deve ser </a:t>
            </a:r>
            <a:r>
              <a:rPr lang="pt-B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um </a:t>
            </a:r>
            <a:r>
              <a:rPr lang="pt-BR" sz="1600" b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arquivo no padrão PowerPoint (PPT), </a:t>
            </a:r>
            <a:r>
              <a:rPr lang="pt-B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consolidando essas informações.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Analise cuidadosamente cada </a:t>
            </a:r>
            <a:r>
              <a:rPr lang="pt-BR" sz="1600" i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slide a seguir </a:t>
            </a:r>
            <a:r>
              <a:rPr lang="pt-B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 caso tenha dúvidas procure o seu tutor para que ele possa contribuir. 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FAF63D-7245-4DBC-0A1E-AA737A78A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25" y="137244"/>
            <a:ext cx="4764905" cy="317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Suporte | Tire suas dúvidas sobre produtos e serviços - Locaweb">
            <a:extLst>
              <a:ext uri="{FF2B5EF4-FFF2-40B4-BE49-F238E27FC236}">
                <a16:creationId xmlns:a16="http://schemas.microsoft.com/office/drawing/2014/main" id="{8ED7C1E6-5A31-205C-BB89-A784C6614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570" y="1342640"/>
            <a:ext cx="2018551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90931-CC3B-7591-4F08-6766601E8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431" y="137244"/>
            <a:ext cx="4856544" cy="317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6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7392" y="2628985"/>
            <a:ext cx="11883779" cy="378437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Defina a arquitetura preliminar da sua solução e explique/justifique a escolha de cada elemento.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Indique principalmente, todas as fontes de dados necessárias para o desenvolvimento da sua solução. Explique e justifique suas escolhas.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Algumas ferramentas que podem ser utilizadas para criar arquitetura de solução: Microsoft Visio, </a:t>
            </a:r>
            <a:r>
              <a:rPr lang="pt-BR" sz="2400" dirty="0" err="1"/>
              <a:t>Lucid</a:t>
            </a:r>
            <a:r>
              <a:rPr lang="pt-BR" sz="2400" dirty="0"/>
              <a:t> Chart, outras a critério da equipe.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1. ARQUITETURA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DE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93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4413B43-5E81-FF83-6EE0-5490CE77D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600" y="931961"/>
            <a:ext cx="7275217" cy="3592859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84AD3C06-764F-09AB-E27D-CF79E62FD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2" y="4421171"/>
            <a:ext cx="11687504" cy="2327543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4000" dirty="0"/>
              <a:t>Nessa arquitetura temos as origens de dados Excel e do ERP SAPIENS sendo consideradas como origens de dados de nossa solução, representadas pelos itens </a:t>
            </a:r>
            <a:r>
              <a:rPr lang="pt-BR" sz="4000" b="1" dirty="0">
                <a:solidFill>
                  <a:srgbClr val="C00000"/>
                </a:solidFill>
              </a:rPr>
              <a:t>1</a:t>
            </a:r>
            <a:r>
              <a:rPr lang="pt-BR" sz="4000" dirty="0"/>
              <a:t> e </a:t>
            </a:r>
            <a:r>
              <a:rPr lang="pt-BR" sz="4000" b="1" dirty="0">
                <a:solidFill>
                  <a:srgbClr val="C00000"/>
                </a:solidFill>
              </a:rPr>
              <a:t>2</a:t>
            </a:r>
            <a:r>
              <a:rPr lang="pt-BR" sz="4000" dirty="0"/>
              <a:t>. Os dados selecionados serão enviados a plataforma em nuvem Microsoft Azure em formato de conta de armazenado em modo </a:t>
            </a:r>
            <a:r>
              <a:rPr lang="pt-BR" sz="4000" dirty="0" err="1"/>
              <a:t>Blob</a:t>
            </a:r>
            <a:r>
              <a:rPr lang="pt-BR" sz="4000" dirty="0"/>
              <a:t> </a:t>
            </a:r>
            <a:r>
              <a:rPr lang="pt-BR" sz="4000" dirty="0" err="1"/>
              <a:t>Storage</a:t>
            </a:r>
            <a:r>
              <a:rPr lang="pt-BR" sz="4000" dirty="0"/>
              <a:t> e após isso um processo ETL irá realizar tratamentos básicos de higienização e cálculos intermediários, enviando esses dados para um SGBD Azure SQL, representado no item </a:t>
            </a:r>
            <a:r>
              <a:rPr lang="pt-BR" sz="4000" b="1" dirty="0">
                <a:solidFill>
                  <a:srgbClr val="C00000"/>
                </a:solidFill>
              </a:rPr>
              <a:t>3</a:t>
            </a:r>
            <a:r>
              <a:rPr lang="pt-BR" sz="4000" dirty="0"/>
              <a:t>. 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4000" dirty="0"/>
              <a:t>No item </a:t>
            </a:r>
            <a:r>
              <a:rPr lang="pt-BR" sz="4000" b="1" dirty="0">
                <a:solidFill>
                  <a:srgbClr val="C00000"/>
                </a:solidFill>
              </a:rPr>
              <a:t>4</a:t>
            </a:r>
            <a:r>
              <a:rPr lang="pt-BR" sz="4000" dirty="0"/>
              <a:t>, criamos um modelo matemático que irá ter acesso aos dados do SGBD Azure SQL, utilizando as bibliotecas: </a:t>
            </a:r>
            <a:r>
              <a:rPr lang="pt-BR" sz="4000" dirty="0" err="1"/>
              <a:t>numpy</a:t>
            </a:r>
            <a:r>
              <a:rPr lang="pt-BR" sz="4000" dirty="0"/>
              <a:t>, pandas, </a:t>
            </a:r>
            <a:r>
              <a:rPr lang="pt-BR" sz="4000" dirty="0" err="1"/>
              <a:t>scikit-learn</a:t>
            </a:r>
            <a:r>
              <a:rPr lang="pt-BR" sz="4000" dirty="0"/>
              <a:t>, </a:t>
            </a:r>
            <a:r>
              <a:rPr lang="pt-BR" sz="4000" dirty="0" err="1"/>
              <a:t>matplotlib</a:t>
            </a:r>
            <a:r>
              <a:rPr lang="pt-BR" sz="4000" dirty="0"/>
              <a:t> e </a:t>
            </a:r>
            <a:r>
              <a:rPr lang="pt-BR" sz="4000" dirty="0" err="1"/>
              <a:t>tensorflow</a:t>
            </a:r>
            <a:r>
              <a:rPr lang="pt-BR" sz="4000" dirty="0"/>
              <a:t> e gerar informações preditivas que serão armazenadas novamente no SGBD Azure SQL.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4000" dirty="0"/>
              <a:t>Por fim, no item </a:t>
            </a:r>
            <a:r>
              <a:rPr lang="pt-BR" sz="4000" b="1" dirty="0">
                <a:solidFill>
                  <a:srgbClr val="C00000"/>
                </a:solidFill>
              </a:rPr>
              <a:t>5</a:t>
            </a:r>
            <a:r>
              <a:rPr lang="pt-BR" sz="4000" dirty="0"/>
              <a:t> vamos criar 1 dashboard contendo essas informações com foco no negócio, atendendo as perguntas pré-definidas pelo negócio que devem ficar acessíveis 24x7 para os usuários de negócio, representado pelo item </a:t>
            </a:r>
            <a:r>
              <a:rPr lang="pt-BR" sz="4000" b="1" dirty="0">
                <a:solidFill>
                  <a:srgbClr val="C00000"/>
                </a:solidFill>
              </a:rPr>
              <a:t>6</a:t>
            </a:r>
            <a:r>
              <a:rPr lang="pt-BR" sz="4000" dirty="0"/>
              <a:t>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3C35E2F-54BA-268A-A758-B1C61FC059A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4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prstClr val="black"/>
                </a:solidFill>
                <a:latin typeface="Calibri Light" panose="020F0302020204030204"/>
              </a:rPr>
              <a:t>1. EXEMPLO DE DESENHO E A DESCRIÇÃO DE UMA TÍPICA ARQUITETURA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DE SOLUÇÃO</a:t>
            </a:r>
          </a:p>
        </p:txBody>
      </p:sp>
    </p:spTree>
    <p:extLst>
      <p:ext uri="{BB962C8B-B14F-4D97-AF65-F5344CB8AC3E}">
        <p14:creationId xmlns:p14="http://schemas.microsoft.com/office/powerpoint/2010/main" val="187552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TECNOLOGIAS UTILIZADAS NA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F88EA01-1AC8-3A5A-AA8A-E439A7F81D1D}"/>
              </a:ext>
            </a:extLst>
          </p:cNvPr>
          <p:cNvSpPr txBox="1"/>
          <p:nvPr/>
        </p:nvSpPr>
        <p:spPr>
          <a:xfrm>
            <a:off x="2301766" y="6396018"/>
            <a:ext cx="7283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800" b="1" dirty="0"/>
              <a:t>Exemplo Ilustrativo </a:t>
            </a:r>
            <a:r>
              <a:rPr lang="pt-BR" b="1" dirty="0"/>
              <a:t>de tecnologias utilizadas em sua solução</a:t>
            </a:r>
            <a:endParaRPr lang="pt-BR" sz="1800" b="1" dirty="0"/>
          </a:p>
        </p:txBody>
      </p:sp>
      <p:pic>
        <p:nvPicPr>
          <p:cNvPr id="10" name="Imagem 9" descr="Texto&#10;&#10;Descrição gerada automaticamente">
            <a:extLst>
              <a:ext uri="{FF2B5EF4-FFF2-40B4-BE49-F238E27FC236}">
                <a16:creationId xmlns:a16="http://schemas.microsoft.com/office/drawing/2014/main" id="{5D559FBE-A556-4A25-DC9E-472AFACF9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766" y="1387367"/>
            <a:ext cx="7283668" cy="49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5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3. PROTÓTIPOS DA 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SOLUÇÃO PROPOSTA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C2096AB-168C-99DB-6C59-AC71DDE92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14" y="3029074"/>
            <a:ext cx="4401395" cy="27276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6D22A59-B775-69A7-18D5-8691572E9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948" y="3029074"/>
            <a:ext cx="5119116" cy="27276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28C94EC3-DAE1-8F35-463B-550BB9B4C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847" y="6278753"/>
            <a:ext cx="11757767" cy="579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dirty="0"/>
              <a:t>Exemplo Ilustrativo: É esperado que sua equipe gere os protótipos que reflitam a solução proposta. Fonte: </a:t>
            </a:r>
            <a:r>
              <a:rPr lang="pt-BR" sz="1400" dirty="0" err="1"/>
              <a:t>Challenges</a:t>
            </a:r>
            <a:r>
              <a:rPr lang="pt-BR" sz="1400" dirty="0"/>
              <a:t> FIAP de anos anteriores</a:t>
            </a:r>
          </a:p>
        </p:txBody>
      </p:sp>
    </p:spTree>
    <p:extLst>
      <p:ext uri="{BB962C8B-B14F-4D97-AF65-F5344CB8AC3E}">
        <p14:creationId xmlns:p14="http://schemas.microsoft.com/office/powerpoint/2010/main" val="331060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3. PROTÓTIPOS DA 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SOLUÇÃO PROPOSTA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7D1B99D-46EF-75E2-EE80-CAD67851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2" y="2628985"/>
            <a:ext cx="11883779" cy="378437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Os protótipos da solução proposta são muitos importantes</a:t>
            </a:r>
            <a:r>
              <a:rPr lang="pt-BR" sz="2000" dirty="0">
                <a:effectLst/>
                <a:ea typeface="Times New Roman" panose="02020603050405020304" pitchFamily="18" charset="0"/>
              </a:rPr>
              <a:t>, pois aumentam consideravelmente a probabilidade de sucesso na entrega final. 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ea typeface="Times New Roman" panose="02020603050405020304" pitchFamily="18" charset="0"/>
            </a:endParaRP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>
                <a:effectLst/>
                <a:ea typeface="Times New Roman" panose="02020603050405020304" pitchFamily="18" charset="0"/>
              </a:rPr>
              <a:t>A criação de protótipos permite um desenvolvimento incremental e iterativo, sendo possível identificar e mitigar riscos precocemente, economizando tempo antes de comprometer recursos significativos do projeto. 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Refere-se a uma representação inicial ou versão preliminar de um produto, sistema ou conceito, que é criada para testar e validar funcionalidades, o design ou a ideia. Ele serve como modelo ou exemplo a ser seguido ou a partir do qual futuras versões ou sistemas podem ser desenvolvidos.</a:t>
            </a:r>
            <a:endParaRPr lang="pt-BR" sz="20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5E35F6-B602-A932-ACC8-2EDD3EC50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253" y="1281220"/>
            <a:ext cx="2091552" cy="1114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C774C63-BD0B-3E30-393B-E6625B0845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277" y="1254894"/>
            <a:ext cx="1761891" cy="1091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1766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3. PROTÓTIPOS DA 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SOLUÇÃO PROPOSTA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7D1B99D-46EF-75E2-EE80-CAD67851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2" y="2628984"/>
            <a:ext cx="11883779" cy="4148887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pt-BR" sz="2000" dirty="0"/>
              <a:t>Os protótipos são utilizados em diversas áreas, como design de produto, engenharia, software e muitas outras, para:]</a:t>
            </a:r>
          </a:p>
          <a:p>
            <a:pPr marL="0" indent="0" algn="l">
              <a:buNone/>
            </a:pPr>
            <a:endParaRPr lang="pt-BR" sz="1100" dirty="0"/>
          </a:p>
          <a:p>
            <a:pPr marL="263525" indent="-263525">
              <a:lnSpc>
                <a:spcPct val="110000"/>
              </a:lnSpc>
              <a:buClr>
                <a:srgbClr val="FF33CC"/>
              </a:buClr>
              <a:buFont typeface="+mj-lt"/>
              <a:buAutoNum type="arabicPeriod"/>
            </a:pPr>
            <a:r>
              <a:rPr lang="pt-BR" sz="2100" dirty="0"/>
              <a:t>Testar e validar conceitos: Antes de investir tempo e recursos no desenvolvimento final de um produto, um protótipo pode ser usado para verificar se a ideia é viável e funcional.</a:t>
            </a:r>
          </a:p>
          <a:p>
            <a:pPr marL="263525" indent="-263525">
              <a:lnSpc>
                <a:spcPct val="110000"/>
              </a:lnSpc>
              <a:buClr>
                <a:srgbClr val="FF33CC"/>
              </a:buClr>
              <a:buFont typeface="+mj-lt"/>
              <a:buAutoNum type="arabicPeriod"/>
            </a:pPr>
            <a:r>
              <a:rPr lang="pt-BR" sz="2100" dirty="0"/>
              <a:t>Coletar feedback: Um protótipo permite que você receba feedback de potenciais usuários, colegas, professores ou empresa parceira para fazer ajustes ou melhorias.</a:t>
            </a:r>
          </a:p>
          <a:p>
            <a:pPr marL="263525" indent="-263525">
              <a:lnSpc>
                <a:spcPct val="110000"/>
              </a:lnSpc>
              <a:buClr>
                <a:srgbClr val="FF33CC"/>
              </a:buClr>
              <a:buFont typeface="+mj-lt"/>
              <a:buAutoNum type="arabicPeriod"/>
            </a:pPr>
            <a:r>
              <a:rPr lang="pt-BR" sz="2100" dirty="0"/>
              <a:t>Reduzir custos e riscos: Ao identificar problemas ou falhas em estágios iniciais, pode-se evitar gastos desnecessários ou revisões extensas mais tarde no processo de desenvolvimento.</a:t>
            </a:r>
          </a:p>
          <a:p>
            <a:pPr marL="263525" indent="-263525">
              <a:lnSpc>
                <a:spcPct val="110000"/>
              </a:lnSpc>
              <a:buClr>
                <a:srgbClr val="FF33CC"/>
              </a:buClr>
              <a:buFont typeface="+mj-lt"/>
              <a:buAutoNum type="arabicPeriod"/>
            </a:pPr>
            <a:r>
              <a:rPr lang="pt-BR" sz="2100" dirty="0"/>
              <a:t>Visualizar e entender ideias: Em muitos casos, é mais fácil entender um conceito ou design quando se tem algo tangível ou visual para examinar, em vez de apenas descrições verbais ou escritas.</a:t>
            </a:r>
          </a:p>
          <a:p>
            <a:pPr marL="263525" indent="-263525">
              <a:lnSpc>
                <a:spcPct val="110000"/>
              </a:lnSpc>
              <a:buClr>
                <a:srgbClr val="FF33CC"/>
              </a:buClr>
              <a:buFont typeface="+mj-lt"/>
              <a:buAutoNum type="arabicPeriod"/>
            </a:pPr>
            <a:r>
              <a:rPr lang="pt-BR" sz="2100" dirty="0"/>
              <a:t>Aqui você pode usar Data </a:t>
            </a:r>
            <a:r>
              <a:rPr lang="pt-BR" sz="2100" dirty="0" err="1"/>
              <a:t>Storyteeling</a:t>
            </a:r>
            <a:r>
              <a:rPr lang="pt-BR" sz="2100" dirty="0"/>
              <a:t>, para combinar dados, visualizações e narrativas para comunicar informações de forma eficaz. Aqui você pode traduzir análises de dados em insights compreensíveis, usando uma história para contextualizar e dar significado aos dados.</a:t>
            </a:r>
          </a:p>
          <a:p>
            <a:pPr marL="263525" indent="-263525">
              <a:lnSpc>
                <a:spcPct val="110000"/>
              </a:lnSpc>
              <a:buClr>
                <a:srgbClr val="FF33CC"/>
              </a:buClr>
              <a:buFont typeface="+mj-lt"/>
              <a:buAutoNum type="arabicPeriod"/>
            </a:pPr>
            <a:r>
              <a:rPr lang="pt-BR" sz="2100" dirty="0"/>
              <a:t>Sugestões de ferramentas que podem ser utilizadas para criar protótipos: </a:t>
            </a:r>
            <a:r>
              <a:rPr lang="pt-BR" sz="2100" dirty="0" err="1"/>
              <a:t>Canva</a:t>
            </a:r>
            <a:r>
              <a:rPr lang="pt-BR" sz="2100" dirty="0"/>
              <a:t>, </a:t>
            </a:r>
            <a:r>
              <a:rPr lang="pt-BR" sz="2100" dirty="0" err="1"/>
              <a:t>Pencil</a:t>
            </a:r>
            <a:r>
              <a:rPr lang="pt-BR" sz="2100" dirty="0"/>
              <a:t>, </a:t>
            </a:r>
            <a:r>
              <a:rPr lang="pt-BR" sz="2100" dirty="0" err="1"/>
              <a:t>Figma</a:t>
            </a:r>
            <a:r>
              <a:rPr lang="pt-BR" sz="2100" dirty="0"/>
              <a:t>, Marvel, </a:t>
            </a:r>
            <a:r>
              <a:rPr lang="pt-BR" sz="2100" dirty="0" err="1"/>
              <a:t>Balsamiq</a:t>
            </a:r>
            <a:r>
              <a:rPr lang="pt-BR" sz="2100" dirty="0"/>
              <a:t> </a:t>
            </a:r>
            <a:r>
              <a:rPr lang="pt-BR" sz="2100" dirty="0" err="1"/>
              <a:t>Mockups</a:t>
            </a:r>
            <a:r>
              <a:rPr lang="pt-BR" sz="2100" dirty="0"/>
              <a:t>, Proto.IO e outras a critério da sua equipe.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13B4C48-7372-AE36-952E-08202DAE4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253" y="1281220"/>
            <a:ext cx="2091552" cy="1114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42FC636-2DEE-5060-4D64-D1241C2B00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277" y="1254894"/>
            <a:ext cx="1761891" cy="1091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397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3. PROTÓTIPOS DA 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SOLUÇÃO PROPOSTA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7D1B99D-46EF-75E2-EE80-CAD67851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2" y="2591277"/>
            <a:ext cx="11883779" cy="4148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Vale ressaltar aqui, caso sua equipe queira ir além, é possível com muito pouco código, utilizando bibliotecas e frameworks do Python,  a publicação na WEB. Isso geraria um diferencial bastante grande na sua entrega.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Sugestões que você poderia utilizar:</a:t>
            </a:r>
          </a:p>
          <a:p>
            <a:pPr marL="0" indent="0">
              <a:buNone/>
            </a:pPr>
            <a:endParaRPr lang="pt-BR" sz="20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 err="1"/>
              <a:t>Streamlit</a:t>
            </a:r>
            <a:r>
              <a:rPr lang="pt-BR" sz="2000" dirty="0"/>
              <a:t>: Uma ferramenta para criar aplicações de análise de dados rapidamente. Muito intuitivo e ótimo para prototipagem.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Dash: Criado pela </a:t>
            </a:r>
            <a:r>
              <a:rPr lang="pt-BR" sz="2000" dirty="0" err="1"/>
              <a:t>Plotly</a:t>
            </a:r>
            <a:r>
              <a:rPr lang="pt-BR" sz="2000" dirty="0"/>
              <a:t>, Dash permite que os desenvolvedores criem aplicações analíticas da web com Python. É ótimo para visualizações de dados e dashboards.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A9451FD-E3E2-8DF6-4B2A-3A643F87A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253" y="1281220"/>
            <a:ext cx="2091552" cy="1114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9890115A-DD89-1FBF-2E84-DD5A9C7DCF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277" y="1254894"/>
            <a:ext cx="1761891" cy="1091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6957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3.PROTÓTIPOS DA 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SOLUÇÃO PROPOSTA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AE78654-A40C-ED35-2782-C5ACDFF12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15" y="2702237"/>
            <a:ext cx="4648323" cy="266949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7877528-4993-BFD7-90F7-7FD1A9158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090" y="2702237"/>
            <a:ext cx="5104828" cy="2669497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EC737854-A44B-CDAE-DC55-A468C93B1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847" y="6278753"/>
            <a:ext cx="11757767" cy="579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dirty="0"/>
              <a:t>Exemplo Ilustrativo: É esperado que sua equipe gere os protótipos que reflitam a solução proposta. Fonte: </a:t>
            </a:r>
            <a:r>
              <a:rPr lang="pt-BR" sz="1400" dirty="0" err="1"/>
              <a:t>Challenges</a:t>
            </a:r>
            <a:r>
              <a:rPr lang="pt-BR" sz="1400" dirty="0"/>
              <a:t> FIAP de anos anteriores.</a:t>
            </a:r>
          </a:p>
        </p:txBody>
      </p:sp>
    </p:spTree>
    <p:extLst>
      <p:ext uri="{BB962C8B-B14F-4D97-AF65-F5344CB8AC3E}">
        <p14:creationId xmlns:p14="http://schemas.microsoft.com/office/powerpoint/2010/main" val="311846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4. PLANEJAMENTO E GESTÃO DE PROJETOS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9666926D-218B-A2AC-8B18-88955EAF5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10" y="3051959"/>
            <a:ext cx="11883779" cy="378437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É muito importante após a ideação e definição da arquitetura e desenho inicial da solução, você planejar adequadamente o tempo para começar a construir sua solução sem contratempos.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9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Uma vez que utilizamos metodologia ágil, faz parte do framework ágil o planejamento, visão das tarefas e progresso do seu projeto. Desta forma você  poderá gerir melhor o desenvolvimento da sua solução.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9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O </a:t>
            </a:r>
            <a:r>
              <a:rPr lang="pt-BR" sz="2400" dirty="0" err="1"/>
              <a:t>Kanban</a:t>
            </a:r>
            <a:r>
              <a:rPr lang="pt-BR" sz="2400" dirty="0"/>
              <a:t> é uma metodologia visual de gestão de projetos e tarefas que permite a visualização do fluxo de trabalho. 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9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Sugestões de ferramentas que podem ser utilizadas para criar protótipos: </a:t>
            </a:r>
            <a:r>
              <a:rPr lang="pt-BR" sz="2400" dirty="0" err="1"/>
              <a:t>Trello</a:t>
            </a:r>
            <a:r>
              <a:rPr lang="pt-BR" sz="2400" dirty="0"/>
              <a:t>, </a:t>
            </a:r>
            <a:r>
              <a:rPr lang="pt-BR" sz="2400" dirty="0" err="1"/>
              <a:t>Jira</a:t>
            </a:r>
            <a:r>
              <a:rPr lang="pt-BR" sz="2400" dirty="0"/>
              <a:t>, </a:t>
            </a:r>
            <a:r>
              <a:rPr lang="pt-BR" sz="2400" dirty="0" err="1"/>
              <a:t>KanbanFlow</a:t>
            </a:r>
            <a:r>
              <a:rPr lang="pt-BR" sz="2400" dirty="0"/>
              <a:t>, Azure Boards e outras a critério da sua equipe.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BDB2870-CCD3-C5AF-88DB-6D1618119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213" y="1177500"/>
            <a:ext cx="2656778" cy="15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7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4. PLANEJAMENTO E GESTÃO DE PROJETOS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3D11FFA-DCDD-E9F8-815F-8FB7763DE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968" y="6432006"/>
            <a:ext cx="9078716" cy="289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dirty="0"/>
              <a:t>Exemplo Ilustrativo. Planejamento e Acompanhamento do Projeto. Fonte: </a:t>
            </a:r>
            <a:r>
              <a:rPr lang="pt-BR" sz="1400" dirty="0" err="1"/>
              <a:t>Challenges</a:t>
            </a:r>
            <a:r>
              <a:rPr lang="pt-BR" sz="1400" dirty="0"/>
              <a:t> FIAP de anos anteriores.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4BB27D9-3144-5F75-DF31-2EA017D90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968" y="2533313"/>
            <a:ext cx="8050064" cy="37390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824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5. FORMALIZAÇÃO E AGRADECIMENTOS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918" y="1222372"/>
            <a:ext cx="1244447" cy="82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762" y="1106296"/>
            <a:ext cx="1155864" cy="94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9666926D-218B-A2AC-8B18-88955EAF5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073" y="2978871"/>
            <a:ext cx="7784481" cy="192056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inserir uma conclusão final e agradecer as pessoas que foi submetida sua apresentação e pessoas que estão contribuindo em seu projeto.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E032DF92-A812-5A61-6F8C-889E78787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2372"/>
            <a:ext cx="3757085" cy="563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673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RECOMENDAÇÕES FINAIS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0A5F576-ECB4-FDB7-1090-39869F9DE2A9}"/>
              </a:ext>
            </a:extLst>
          </p:cNvPr>
          <p:cNvSpPr txBox="1"/>
          <p:nvPr/>
        </p:nvSpPr>
        <p:spPr>
          <a:xfrm>
            <a:off x="4004442" y="1513663"/>
            <a:ext cx="8014734" cy="5438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Essa Sprint é de extrema importância técnica e de negócio, portanto capriche nas imagens e no conteúdo da apresentação.</a:t>
            </a: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Temos 5 grandes entregas dentro dessa Sprint. </a:t>
            </a: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Analise cada uma delas e caso tenha dúvida não hesite em fazer contato com o </a:t>
            </a:r>
            <a:r>
              <a:rPr lang="pt-BR" sz="2400" dirty="0" err="1"/>
              <a:t>scrum</a:t>
            </a:r>
            <a:r>
              <a:rPr lang="pt-BR" sz="2400" dirty="0"/>
              <a:t> master de seu projeto.</a:t>
            </a: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pic>
        <p:nvPicPr>
          <p:cNvPr id="8194" name="Picture 2" descr="Generated image">
            <a:extLst>
              <a:ext uri="{FF2B5EF4-FFF2-40B4-BE49-F238E27FC236}">
                <a16:creationId xmlns:a16="http://schemas.microsoft.com/office/drawing/2014/main" id="{4C6F73C2-4F3E-33B9-4DAE-6821FD938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789"/>
            <a:ext cx="3888828" cy="583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3358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47E37EC11C8246B76D75C67DE7970E" ma:contentTypeVersion="17" ma:contentTypeDescription="Crie um novo documento." ma:contentTypeScope="" ma:versionID="59bcf617e04c2daac9f504d12ff5a883">
  <xsd:schema xmlns:xsd="http://www.w3.org/2001/XMLSchema" xmlns:xs="http://www.w3.org/2001/XMLSchema" xmlns:p="http://schemas.microsoft.com/office/2006/metadata/properties" xmlns:ns2="a6194295-1792-4b63-878c-b29c2ff82726" xmlns:ns3="49c50ba2-eaf4-4058-b769-73a32109933c" targetNamespace="http://schemas.microsoft.com/office/2006/metadata/properties" ma:root="true" ma:fieldsID="6866b81e5fe3156d5a79b021ac539ff4" ns2:_="" ns3:_="">
    <xsd:import namespace="a6194295-1792-4b63-878c-b29c2ff82726"/>
    <xsd:import namespace="49c50ba2-eaf4-4058-b769-73a3210993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194295-1792-4b63-878c-b29c2ff82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50ba2-eaf4-4058-b769-73a32109933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fbf75b8-6e79-4d53-aece-ace6fdf467fd}" ma:internalName="TaxCatchAll" ma:showField="CatchAllData" ma:web="49c50ba2-eaf4-4058-b769-73a3210993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194295-1792-4b63-878c-b29c2ff82726">
      <Terms xmlns="http://schemas.microsoft.com/office/infopath/2007/PartnerControls"/>
    </lcf76f155ced4ddcb4097134ff3c332f>
    <TaxCatchAll xmlns="49c50ba2-eaf4-4058-b769-73a32109933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9F5C81-C0E9-4F39-815C-28BE48BA9FF1}"/>
</file>

<file path=customXml/itemProps2.xml><?xml version="1.0" encoding="utf-8"?>
<ds:datastoreItem xmlns:ds="http://schemas.openxmlformats.org/officeDocument/2006/customXml" ds:itemID="{9AA7BDEB-DE2C-4182-83A9-4B1B69848987}">
  <ds:schemaRefs>
    <ds:schemaRef ds:uri="http://schemas.microsoft.com/office/2006/metadata/properties"/>
    <ds:schemaRef ds:uri="http://schemas.microsoft.com/office/infopath/2007/PartnerControls"/>
    <ds:schemaRef ds:uri="a6194295-1792-4b63-878c-b29c2ff82726"/>
    <ds:schemaRef ds:uri="49c50ba2-eaf4-4058-b769-73a32109933c"/>
  </ds:schemaRefs>
</ds:datastoreItem>
</file>

<file path=customXml/itemProps3.xml><?xml version="1.0" encoding="utf-8"?>
<ds:datastoreItem xmlns:ds="http://schemas.openxmlformats.org/officeDocument/2006/customXml" ds:itemID="{048DB67B-E193-4B82-970E-79D5F996D4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1091</Words>
  <Application>Microsoft Office PowerPoint</Application>
  <PresentationFormat>Widescreen</PresentationFormat>
  <Paragraphs>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Play</vt:lpstr>
      <vt:lpstr>Times New Roman</vt:lpstr>
      <vt:lpstr>Wingdings</vt:lpstr>
      <vt:lpstr>Tema do Office</vt:lpstr>
      <vt:lpstr>1_Tema do Office</vt:lpstr>
      <vt:lpstr>2_Tema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Salvio Padlipskas</cp:lastModifiedBy>
  <cp:revision>62</cp:revision>
  <dcterms:created xsi:type="dcterms:W3CDTF">2016-03-03T21:44:23Z</dcterms:created>
  <dcterms:modified xsi:type="dcterms:W3CDTF">2026-03-10T23:10:33Z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0x010100A647E37EC11C8246B76D75C67DE7970E</vt:lpwstr>
  </property>
  <property fmtid="{D5CDD505-2E9C-101B-9397-08002B2CF9AE}" pid="3" name="Order">
    <vt:r8>148300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