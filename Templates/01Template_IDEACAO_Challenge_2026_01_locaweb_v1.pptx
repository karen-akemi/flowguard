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3"/>
  </p:notesMasterIdLst>
  <p:sldIdLst>
    <p:sldId id="356" r:id="rId6"/>
    <p:sldId id="354" r:id="rId7"/>
    <p:sldId id="353" r:id="rId8"/>
    <p:sldId id="355" r:id="rId9"/>
    <p:sldId id="257" r:id="rId10"/>
    <p:sldId id="347" r:id="rId11"/>
    <p:sldId id="266" r:id="rId12"/>
    <p:sldId id="348" r:id="rId13"/>
    <p:sldId id="258" r:id="rId14"/>
    <p:sldId id="351" r:id="rId15"/>
    <p:sldId id="306" r:id="rId16"/>
    <p:sldId id="268" r:id="rId17"/>
    <p:sldId id="349" r:id="rId18"/>
    <p:sldId id="270" r:id="rId19"/>
    <p:sldId id="350" r:id="rId20"/>
    <p:sldId id="269" r:id="rId21"/>
    <p:sldId id="265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DE9153-50A2-948B-DBC2-978D4083A507}" v="55" dt="2024-10-02T11:51:27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7" autoAdjust="0"/>
  </p:normalViewPr>
  <p:slideViewPr>
    <p:cSldViewPr snapToGrid="0">
      <p:cViewPr varScale="1">
        <p:scale>
          <a:sx n="75" d="100"/>
          <a:sy n="75" d="100"/>
        </p:scale>
        <p:origin x="67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a de Cássia Rodrigues" userId="S::pf0102@fiap.com.br::b32710f7-8521-4fe1-8cdd-1070fada222d" providerId="AD" clId="Web-{583FD67C-9DB6-691D-15F7-D35200F2CC31}"/>
    <pc:docChg chg="modSld">
      <pc:chgData name="Rita de Cássia Rodrigues" userId="S::pf0102@fiap.com.br::b32710f7-8521-4fe1-8cdd-1070fada222d" providerId="AD" clId="Web-{583FD67C-9DB6-691D-15F7-D35200F2CC31}" dt="2023-10-09T14:22:55.458" v="2"/>
      <pc:docMkLst>
        <pc:docMk/>
      </pc:docMkLst>
      <pc:sldChg chg="addSp delSp modSp mod modClrScheme delDesignElem chgLayout">
        <pc:chgData name="Rita de Cássia Rodrigues" userId="S::pf0102@fiap.com.br::b32710f7-8521-4fe1-8cdd-1070fada222d" providerId="AD" clId="Web-{583FD67C-9DB6-691D-15F7-D35200F2CC31}" dt="2023-10-09T14:22:55.458" v="2"/>
        <pc:sldMkLst>
          <pc:docMk/>
          <pc:sldMk cId="414246616" sldId="265"/>
        </pc:sldMkLst>
        <pc:spChg chg="mod ord">
          <ac:chgData name="Rita de Cássia Rodrigues" userId="S::pf0102@fiap.com.br::b32710f7-8521-4fe1-8cdd-1070fada222d" providerId="AD" clId="Web-{583FD67C-9DB6-691D-15F7-D35200F2CC31}" dt="2023-10-09T14:22:49.114" v="1"/>
          <ac:spMkLst>
            <pc:docMk/>
            <pc:sldMk cId="414246616" sldId="265"/>
            <ac:spMk id="2" creationId="{00000000-0000-0000-0000-000000000000}"/>
          </ac:spMkLst>
        </pc:spChg>
        <pc:spChg chg="mod ord">
          <ac:chgData name="Rita de Cássia Rodrigues" userId="S::pf0102@fiap.com.br::b32710f7-8521-4fe1-8cdd-1070fada222d" providerId="AD" clId="Web-{583FD67C-9DB6-691D-15F7-D35200F2CC31}" dt="2023-10-09T14:22:49.114" v="1"/>
          <ac:spMkLst>
            <pc:docMk/>
            <pc:sldMk cId="414246616" sldId="265"/>
            <ac:spMk id="3" creationId="{00000000-0000-0000-0000-000000000000}"/>
          </ac:spMkLst>
        </pc:spChg>
        <pc:spChg chg="del">
          <ac:chgData name="Rita de Cássia Rodrigues" userId="S::pf0102@fiap.com.br::b32710f7-8521-4fe1-8cdd-1070fada222d" providerId="AD" clId="Web-{583FD67C-9DB6-691D-15F7-D35200F2CC31}" dt="2023-10-09T14:22:43.145" v="0"/>
          <ac:spMkLst>
            <pc:docMk/>
            <pc:sldMk cId="414246616" sldId="265"/>
            <ac:spMk id="9" creationId="{F13C74B1-5B17-4795-BED0-7140497B445A}"/>
          </ac:spMkLst>
        </pc:spChg>
        <pc:spChg chg="add">
          <ac:chgData name="Rita de Cássia Rodrigues" userId="S::pf0102@fiap.com.br::b32710f7-8521-4fe1-8cdd-1070fada222d" providerId="AD" clId="Web-{583FD67C-9DB6-691D-15F7-D35200F2CC31}" dt="2023-10-09T14:22:49.114" v="1"/>
          <ac:spMkLst>
            <pc:docMk/>
            <pc:sldMk cId="414246616" sldId="265"/>
            <ac:spMk id="10" creationId="{8A94871E-96FC-4ADE-815B-41A636E34F1A}"/>
          </ac:spMkLst>
        </pc:spChg>
        <pc:spChg chg="del">
          <ac:chgData name="Rita de Cássia Rodrigues" userId="S::pf0102@fiap.com.br::b32710f7-8521-4fe1-8cdd-1070fada222d" providerId="AD" clId="Web-{583FD67C-9DB6-691D-15F7-D35200F2CC31}" dt="2023-10-09T14:22:43.145" v="0"/>
          <ac:spMkLst>
            <pc:docMk/>
            <pc:sldMk cId="414246616" sldId="265"/>
            <ac:spMk id="11" creationId="{D4974D33-8DC5-464E-8C6D-BE58F0669C17}"/>
          </ac:spMkLst>
        </pc:spChg>
        <pc:spChg chg="add">
          <ac:chgData name="Rita de Cássia Rodrigues" userId="S::pf0102@fiap.com.br::b32710f7-8521-4fe1-8cdd-1070fada222d" providerId="AD" clId="Web-{583FD67C-9DB6-691D-15F7-D35200F2CC31}" dt="2023-10-09T14:22:49.114" v="1"/>
          <ac:spMkLst>
            <pc:docMk/>
            <pc:sldMk cId="414246616" sldId="265"/>
            <ac:spMk id="12" creationId="{3FCFB1DE-0B7E-48CC-BA90-B2AB0889F9D6}"/>
          </ac:spMkLst>
        </pc:spChg>
        <pc:picChg chg="del mod">
          <ac:chgData name="Rita de Cássia Rodrigues" userId="S::pf0102@fiap.com.br::b32710f7-8521-4fe1-8cdd-1070fada222d" providerId="AD" clId="Web-{583FD67C-9DB6-691D-15F7-D35200F2CC31}" dt="2023-10-09T14:22:55.458" v="2"/>
          <ac:picMkLst>
            <pc:docMk/>
            <pc:sldMk cId="414246616" sldId="265"/>
            <ac:picMk id="5" creationId="{C961C0CF-3EC1-9D9D-26A6-669BABFC6684}"/>
          </ac:picMkLst>
        </pc:picChg>
      </pc:sldChg>
    </pc:docChg>
  </pc:docChgLst>
  <pc:docChgLst>
    <pc:chgData name="Rita de Cássia Rodrigues" userId="S::pf0102@fiap.com.br::b32710f7-8521-4fe1-8cdd-1070fada222d" providerId="AD" clId="Web-{55DE9153-50A2-948B-DBC2-978D4083A507}"/>
    <pc:docChg chg="addSld modSld">
      <pc:chgData name="Rita de Cássia Rodrigues" userId="S::pf0102@fiap.com.br::b32710f7-8521-4fe1-8cdd-1070fada222d" providerId="AD" clId="Web-{55DE9153-50A2-948B-DBC2-978D4083A507}" dt="2024-10-02T11:51:27.452" v="56"/>
      <pc:docMkLst>
        <pc:docMk/>
      </pc:docMkLst>
      <pc:sldChg chg="modSp">
        <pc:chgData name="Rita de Cássia Rodrigues" userId="S::pf0102@fiap.com.br::b32710f7-8521-4fe1-8cdd-1070fada222d" providerId="AD" clId="Web-{55DE9153-50A2-948B-DBC2-978D4083A507}" dt="2024-10-02T11:51:27.452" v="56"/>
        <pc:sldMkLst>
          <pc:docMk/>
          <pc:sldMk cId="2293242101" sldId="258"/>
        </pc:sldMkLst>
        <pc:spChg chg="mod">
          <ac:chgData name="Rita de Cássia Rodrigues" userId="S::pf0102@fiap.com.br::b32710f7-8521-4fe1-8cdd-1070fada222d" providerId="AD" clId="Web-{55DE9153-50A2-948B-DBC2-978D4083A507}" dt="2024-10-02T11:49:38.544" v="5" actId="20577"/>
          <ac:spMkLst>
            <pc:docMk/>
            <pc:sldMk cId="2293242101" sldId="258"/>
            <ac:spMk id="2" creationId="{00000000-0000-0000-0000-000000000000}"/>
          </ac:spMkLst>
        </pc:spChg>
        <pc:spChg chg="mod">
          <ac:chgData name="Rita de Cássia Rodrigues" userId="S::pf0102@fiap.com.br::b32710f7-8521-4fe1-8cdd-1070fada222d" providerId="AD" clId="Web-{55DE9153-50A2-948B-DBC2-978D4083A507}" dt="2024-10-02T11:51:27.452" v="56"/>
          <ac:spMkLst>
            <pc:docMk/>
            <pc:sldMk cId="2293242101" sldId="258"/>
            <ac:spMk id="3" creationId="{00000000-0000-0000-0000-000000000000}"/>
          </ac:spMkLst>
        </pc:spChg>
      </pc:sldChg>
      <pc:sldChg chg="add replId">
        <pc:chgData name="Rita de Cássia Rodrigues" userId="S::pf0102@fiap.com.br::b32710f7-8521-4fe1-8cdd-1070fada222d" providerId="AD" clId="Web-{55DE9153-50A2-948B-DBC2-978D4083A507}" dt="2024-10-02T11:49:26.434" v="0"/>
        <pc:sldMkLst>
          <pc:docMk/>
          <pc:sldMk cId="1608922987" sldId="3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67B37-5EC6-477B-A2AB-31FAA8746C81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FBD3B-76DC-4B7E-80D1-07DEFC9EE8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7344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3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9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35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02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96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81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1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6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61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70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046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566B6FBC-3C5B-1FF2-8088-6E2EACD092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0" y="4730400"/>
            <a:ext cx="1641600" cy="16416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Roboto" panose="02000000000000000000" pitchFamily="2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0606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0744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17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2067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" descr="Padrão do plano de fund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3734" y="2660145"/>
            <a:ext cx="6724532" cy="768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0161" y="4081331"/>
            <a:ext cx="3471679" cy="484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6">
            <a:alphaModFix/>
          </a:blip>
          <a:srcRect l="20963" r="20963"/>
          <a:stretch/>
        </p:blipFill>
        <p:spPr>
          <a:xfrm>
            <a:off x="5585953" y="2009024"/>
            <a:ext cx="1020095" cy="305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AC8FCA2-4BD9-067C-E92F-96972B58E8D1}"/>
              </a:ext>
            </a:extLst>
          </p:cNvPr>
          <p:cNvSpPr txBox="1"/>
          <p:nvPr/>
        </p:nvSpPr>
        <p:spPr>
          <a:xfrm>
            <a:off x="196879" y="3814147"/>
            <a:ext cx="11500702" cy="2904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Na SPRINT 1 temos como tema principal a </a:t>
            </a:r>
            <a:r>
              <a:rPr lang="pt-BR" sz="1800" b="1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IDEAÇÃO DO PROJETO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onde </a:t>
            </a: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é esperado que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você descreva a ideia inicial de sua solução, e irá permitir aos avaliadores a compreensão do desafio que vem a frente. </a:t>
            </a: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 entregável de seu grup</a:t>
            </a: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o nessa sprint deve ser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um </a:t>
            </a:r>
            <a:r>
              <a:rPr lang="pt-BR" sz="1800" b="1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arquivo no padrão PowerPoint (PPT),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contendo as informações de seu projeto</a:t>
            </a:r>
            <a:r>
              <a:rPr lang="pt-BR" sz="1800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Analise cuidadosamente cada </a:t>
            </a:r>
            <a:r>
              <a:rPr lang="pt-BR" sz="1800" i="1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slide a seguir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 caso tenha dúvidas procure o seu tutor para que ele possa contribuir. 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2" descr="Generated image">
            <a:extLst>
              <a:ext uri="{FF2B5EF4-FFF2-40B4-BE49-F238E27FC236}">
                <a16:creationId xmlns:a16="http://schemas.microsoft.com/office/drawing/2014/main" id="{1B08B071-006E-665C-F84B-B9B8CF206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7E8EA"/>
              </a:clrFrom>
              <a:clrTo>
                <a:srgbClr val="E7E8E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79" y="139275"/>
            <a:ext cx="2357135" cy="353570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5E0789-F2CF-EB17-4396-12EAFF429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062" y="139275"/>
            <a:ext cx="5405553" cy="353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6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5097" y="1443310"/>
            <a:ext cx="11019672" cy="4341326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Nome da Equipe: </a:t>
            </a:r>
            <a:r>
              <a:rPr lang="pt-BR" sz="2000" dirty="0">
                <a:solidFill>
                  <a:srgbClr val="0070C0"/>
                </a:solidFill>
              </a:rPr>
              <a:t>&lt;escolha um nome criativo e significativo&gt;</a:t>
            </a:r>
            <a:r>
              <a:rPr lang="pt-BR" sz="2000" dirty="0"/>
              <a:t> </a:t>
            </a:r>
          </a:p>
          <a:p>
            <a:pPr algn="l"/>
            <a:endParaRPr lang="pt-BR" sz="900" dirty="0"/>
          </a:p>
          <a:p>
            <a:pPr algn="l"/>
            <a:r>
              <a:rPr lang="pt-BR" dirty="0"/>
              <a:t>Nome dos componentes e RM: </a:t>
            </a:r>
            <a:r>
              <a:rPr lang="pt-BR" sz="2000" dirty="0">
                <a:solidFill>
                  <a:srgbClr val="0070C0"/>
                </a:solidFill>
              </a:rPr>
              <a:t>&lt;veja uma pequena sugestão abaixo&gt;</a:t>
            </a:r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r>
              <a:rPr lang="pt-BR" dirty="0"/>
              <a:t>Aqui também é possível você pode colar a foto de cada componente da equipe e mais alguma informação que julgar pertinente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90994" y="5866389"/>
            <a:ext cx="5301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Observação: A formação dos slides (cores, fontes de texto, imagens, ficam a critério de cada Equipe) faz parte dos critérios de avaliação do projeto. </a:t>
            </a:r>
          </a:p>
        </p:txBody>
      </p:sp>
      <p:pic>
        <p:nvPicPr>
          <p:cNvPr id="5" name="Imagem 4" descr="Tabela&#10;&#10;Descrição gerada automaticamente">
            <a:extLst>
              <a:ext uri="{FF2B5EF4-FFF2-40B4-BE49-F238E27FC236}">
                <a16:creationId xmlns:a16="http://schemas.microsoft.com/office/drawing/2014/main" id="{236CB8E4-F7CD-6967-110B-E105B4723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545" y="2690970"/>
            <a:ext cx="2708792" cy="1846006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E53A4EEE-BFD1-3BBC-74B1-B3A623979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9300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pt-BR" b="1" dirty="0"/>
              <a:t>NOME DA SOLUÇÃO/PROJETO</a:t>
            </a:r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FD1AE983-30B9-F593-5876-861770A40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925" y="1073364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91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3527" y="1279658"/>
            <a:ext cx="10316785" cy="3471018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Clr>
                <a:srgbClr val="FF3399"/>
              </a:buClr>
              <a:buFont typeface="Wingdings" panose="05000000000000000000" pitchFamily="2" charset="2"/>
              <a:buChar char="§"/>
            </a:pPr>
            <a:r>
              <a:rPr lang="pt-BR" dirty="0"/>
              <a:t>Um nome envolvente e atraente pode aumentar o interesse e o engajamento da equipe da empresa parceira e demais partes interessadas.  </a:t>
            </a:r>
          </a:p>
          <a:p>
            <a:pPr algn="l"/>
            <a:endParaRPr lang="pt-BR" dirty="0"/>
          </a:p>
        </p:txBody>
      </p:sp>
      <p:pic>
        <p:nvPicPr>
          <p:cNvPr id="6" name="Imagem 5" descr="Fundo preto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54A99FE9-C9BD-7A47-CA50-7DA660D20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511" y="4611117"/>
            <a:ext cx="3120272" cy="2144658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B1C4C8FB-FCAA-C529-4277-66FB5797D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9300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pt-BR" b="1" dirty="0"/>
              <a:t>NOME DA SOLUÇÃO/PROJETO</a:t>
            </a:r>
          </a:p>
        </p:txBody>
      </p:sp>
      <p:pic>
        <p:nvPicPr>
          <p:cNvPr id="10" name="Picture 2" descr="Generated image">
            <a:extLst>
              <a:ext uri="{FF2B5EF4-FFF2-40B4-BE49-F238E27FC236}">
                <a16:creationId xmlns:a16="http://schemas.microsoft.com/office/drawing/2014/main" id="{CF697C39-B21C-4947-A659-CBB01597F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383" y="1159309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5CD3F43F-578F-B6B0-DF54-529DEF01454E}"/>
              </a:ext>
            </a:extLst>
          </p:cNvPr>
          <p:cNvSpPr txBox="1">
            <a:spLocks/>
          </p:cNvSpPr>
          <p:nvPr/>
        </p:nvSpPr>
        <p:spPr>
          <a:xfrm>
            <a:off x="196410" y="2726722"/>
            <a:ext cx="11988474" cy="3471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Clr>
                <a:srgbClr val="FF3399"/>
              </a:buClr>
              <a:buFont typeface="Wingdings" panose="05000000000000000000" pitchFamily="2" charset="2"/>
              <a:buChar char="§"/>
            </a:pPr>
            <a:r>
              <a:rPr lang="pt-BR" dirty="0"/>
              <a:t>Caso consiga criar um logotipo será muito bem-vindo, pois esse tipo de entrega promove o engajamento e geralmente tem destaque em um ambiente competitivo. Veja um exemplo interessante da solução </a:t>
            </a:r>
            <a:r>
              <a:rPr lang="pt-BR" dirty="0" err="1"/>
              <a:t>VoxType</a:t>
            </a:r>
            <a:r>
              <a:rPr lang="pt-BR" dirty="0"/>
              <a:t> que faz transcrição de áudios, criado pelo grupo </a:t>
            </a:r>
            <a:r>
              <a:rPr lang="pt-BR" dirty="0" err="1"/>
              <a:t>VoxType</a:t>
            </a:r>
            <a:r>
              <a:rPr lang="pt-BR" dirty="0"/>
              <a:t>.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4959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8279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pt-BR" sz="6000" b="1" dirty="0"/>
              <a:t>CONTEXTUALIZAÇÃO DO 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0829" y="1615313"/>
            <a:ext cx="11399821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/>
              <a:t>#DICAS</a:t>
            </a:r>
          </a:p>
          <a:p>
            <a:pPr marL="0" indent="0">
              <a:buNone/>
            </a:pPr>
            <a:endParaRPr lang="pt-BR" dirty="0"/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Defina claramente o problema. Qual é a questão a ser resolvida.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Considere o contexto em que o problema está ocorrendo. Isso pode incluir fatores históricos, sociais, econômicos, culturais e políticos que podem estar influenciando a situação.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Tente identificar as causas raiz do problema.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Entenda os fatores que podem contribuir para o problema (podem ser usadas ferramentas de análise como: análise SWOT, matriz de impacto e viabilidade, diagrama de Ishikawa espinha de peixe).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Aqui você pode inserir notícias, gráficos, informações da empresa parceira e tudo mais que a equipe considerar pertinente.</a:t>
            </a:r>
          </a:p>
          <a:p>
            <a:endParaRPr lang="pt-BR" dirty="0"/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822A31AB-4990-190B-D7DE-29FC3B46F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1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undo">
            <a:extLst>
              <a:ext uri="{FF2B5EF4-FFF2-40B4-BE49-F238E27FC236}">
                <a16:creationId xmlns:a16="http://schemas.microsoft.com/office/drawing/2014/main" id="{24B28445-A14E-3FA2-B9AF-C80E9D7E608E}"/>
              </a:ext>
            </a:extLst>
          </p:cNvPr>
          <p:cNvSpPr/>
          <p:nvPr/>
        </p:nvSpPr>
        <p:spPr>
          <a:xfrm>
            <a:off x="-4144" y="626"/>
            <a:ext cx="12192000" cy="6893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latin typeface="Roboto" panose="02000000000000000000" pitchFamily="2" charset="0"/>
            </a:endParaRPr>
          </a:p>
        </p:txBody>
      </p:sp>
      <p:sp>
        <p:nvSpPr>
          <p:cNvPr id="306" name="Interrogação">
            <a:extLst>
              <a:ext uri="{FF2B5EF4-FFF2-40B4-BE49-F238E27FC236}">
                <a16:creationId xmlns:a16="http://schemas.microsoft.com/office/drawing/2014/main" id="{206FE72C-B96F-2697-0E33-9E402CE824F9}"/>
              </a:ext>
            </a:extLst>
          </p:cNvPr>
          <p:cNvSpPr txBox="1"/>
          <p:nvPr/>
        </p:nvSpPr>
        <p:spPr>
          <a:xfrm>
            <a:off x="876510" y="4644155"/>
            <a:ext cx="500603" cy="1200329"/>
          </a:xfrm>
          <a:prstGeom prst="rect">
            <a:avLst/>
          </a:prstGeom>
          <a:noFill/>
          <a:effectLst>
            <a:outerShdw blurRad="50800" dist="38100" dir="5400000" algn="ctr" rotWithShape="0">
              <a:schemeClr val="bg1"/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7200" dirty="0">
                <a:gradFill>
                  <a:gsLst>
                    <a:gs pos="61600">
                      <a:srgbClr val="FFFFFF">
                        <a:alpha val="32000"/>
                      </a:srgbClr>
                    </a:gs>
                    <a:gs pos="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Roboto Medium" panose="02000000000000000000" pitchFamily="2" charset="0"/>
                <a:ea typeface="Roboto Medium" panose="02000000000000000000" pitchFamily="2" charset="0"/>
              </a:rPr>
              <a:t>?</a:t>
            </a:r>
          </a:p>
        </p:txBody>
      </p:sp>
      <p:sp>
        <p:nvSpPr>
          <p:cNvPr id="310" name="TXT1">
            <a:extLst>
              <a:ext uri="{FF2B5EF4-FFF2-40B4-BE49-F238E27FC236}">
                <a16:creationId xmlns:a16="http://schemas.microsoft.com/office/drawing/2014/main" id="{DD23A8EF-4FED-9DBD-7282-AF468DC6807F}"/>
              </a:ext>
            </a:extLst>
          </p:cNvPr>
          <p:cNvSpPr txBox="1"/>
          <p:nvPr/>
        </p:nvSpPr>
        <p:spPr>
          <a:xfrm>
            <a:off x="468631" y="1308006"/>
            <a:ext cx="115229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fontAlgn="base"/>
            <a:r>
              <a:rPr lang="pt-BR" sz="1800" dirty="0">
                <a:solidFill>
                  <a:schemeClr val="tx1"/>
                </a:solidFill>
                <a:latin typeface="+mn-lt"/>
              </a:rPr>
              <a:t>A Oracle Corporation, uma das principais empresas globais em tecnologia e serviços de software, é conhecida por seu foco em soluções de banco de dados, nuvem e inovação digital. Com sede em Austin, Texas, a Oracle se destaca pelo desenvolvimento de tecnologias de inteligência artificial e pela oferta de infraestrutura e aplicativos em nuvem que auxiliam empresas de diversos setores a otimizar seus processos e extrair insights valiosos de seus dados. A satisfação do cliente é um pilar central para a empresa, que também monitora a experiência por meio do Net Promoter Score (NPS). O NPS mede a lealdade dos clientes em uma escala de 0 a 10, categorizando as respostas em detratores, neutros e promotores. Esse índice é calculado subtraindo a porcentagem de detratores da porcentagem de promotores, fornecendo uma visão clara sobre a saúde do relacionamento com os clientes e ajudando a definir zonas de classificação que variam de "Encantamento" a "Zona Crítica</a:t>
            </a:r>
          </a:p>
        </p:txBody>
      </p:sp>
      <p:sp>
        <p:nvSpPr>
          <p:cNvPr id="317" name="TXT3">
            <a:extLst>
              <a:ext uri="{FF2B5EF4-FFF2-40B4-BE49-F238E27FC236}">
                <a16:creationId xmlns:a16="http://schemas.microsoft.com/office/drawing/2014/main" id="{FCD57FC4-603D-7C7A-45DF-C51DA165FC9B}"/>
              </a:ext>
            </a:extLst>
          </p:cNvPr>
          <p:cNvSpPr txBox="1"/>
          <p:nvPr/>
        </p:nvSpPr>
        <p:spPr>
          <a:xfrm>
            <a:off x="468631" y="4337851"/>
            <a:ext cx="114119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fontAlgn="base"/>
            <a:r>
              <a:rPr lang="pt-BR" sz="1800" dirty="0">
                <a:solidFill>
                  <a:schemeClr val="tx1"/>
                </a:solidFill>
                <a:latin typeface="+mn-lt"/>
              </a:rPr>
              <a:t>Esta metodologia de classificação possibilita à Oracle agrupar a satisfação dos clientes e identificar áreas que necessitam de melhorias ou ajustes para atender às demandas específicas de cada cliente. Após a análise do NPS, a empresa implementa a técnica de "Close de Loop", na qual as informações coletadas são processadas e utilizadas para abordar e resolver as questões de insatisfação dos clientes. Além disso, para facilitar a identificação dos problemas e o desenvolvimento de planos de ação eficazes, os áudios das chamadas são transcritos, otimizando o mapeamento de soluções e a resolução de preocupações dos clientes.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BBDE77-D066-DBF4-DF0B-E2224F921951}"/>
              </a:ext>
            </a:extLst>
          </p:cNvPr>
          <p:cNvSpPr txBox="1">
            <a:spLocks/>
          </p:cNvSpPr>
          <p:nvPr/>
        </p:nvSpPr>
        <p:spPr>
          <a:xfrm>
            <a:off x="468631" y="266715"/>
            <a:ext cx="11522940" cy="7468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EXEMPLO DE CONTEXTUALIZAÇÃO DO PROBLEMA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FF9627-EB75-F9AB-2C18-B93928622046}"/>
              </a:ext>
            </a:extLst>
          </p:cNvPr>
          <p:cNvSpPr txBox="1"/>
          <p:nvPr/>
        </p:nvSpPr>
        <p:spPr>
          <a:xfrm>
            <a:off x="3677603" y="626950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2825589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250" tmFilter="0, 0; .2, .5; .8, .5; 1, 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625" autoRev="1" fill="hold"/>
                                        <p:tgtEl>
                                          <p:spTgt spid="3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5000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2.5E-6 3.33333E-6 L 0.01523 0.04676 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/>
      <p:bldP spid="306" grpId="1"/>
      <p:bldP spid="310" grpId="0"/>
      <p:bldP spid="310" grpId="1"/>
      <p:bldP spid="3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108" y="2999699"/>
            <a:ext cx="11862063" cy="3042943"/>
          </a:xfrm>
        </p:spPr>
        <p:txBody>
          <a:bodyPr>
            <a:normAutofit/>
          </a:bodyPr>
          <a:lstStyle/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Determine claramente o que você espera alcançar ao resolver esse problema. 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1200" dirty="0"/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Pergunte a si mesmo: "O que espero alcançar?" Isso ajudará a estabelecer metas claras.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1200" dirty="0"/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Aqui você pode usar a técnica de </a:t>
            </a:r>
            <a:r>
              <a:rPr lang="pt-BR" sz="2400" dirty="0" err="1"/>
              <a:t>Storytelling</a:t>
            </a:r>
            <a:r>
              <a:rPr lang="pt-BR" sz="2400" dirty="0"/>
              <a:t>, para contar através da ideia de histórias a problemática apresentada.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48D240E-FF8C-3BB7-0951-A1A7AAED1AD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PROBLEMA A SER RESOLVIDO</a:t>
            </a:r>
          </a:p>
        </p:txBody>
      </p:sp>
      <p:pic>
        <p:nvPicPr>
          <p:cNvPr id="5" name="Picture 2" descr="Generated image">
            <a:extLst>
              <a:ext uri="{FF2B5EF4-FFF2-40B4-BE49-F238E27FC236}">
                <a16:creationId xmlns:a16="http://schemas.microsoft.com/office/drawing/2014/main" id="{D65202B9-3D75-EA11-3CDE-9C3BD5031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2971C2C6-4813-F491-E7AF-94E3FE20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52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6E6B0-035F-CA36-45E2-6429AADA4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03"/>
            <a:ext cx="10515600" cy="789292"/>
          </a:xfrm>
        </p:spPr>
        <p:txBody>
          <a:bodyPr>
            <a:normAutofit/>
          </a:bodyPr>
          <a:lstStyle/>
          <a:p>
            <a:r>
              <a:rPr lang="pt-BR" dirty="0"/>
              <a:t>EXEMPLO DE PROBLEMA A SER RESOLVIDO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2884CA-BE38-5C56-251E-D49DF38E5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442" y="1427228"/>
            <a:ext cx="11880558" cy="49653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Considerando o contexto apresentado, enfrentamos o desafio de garantir a fidelidade na transcrição de áudios quando comparada com o áudio original. Isso se deve à presença de interferências sonoras, bem como à diversidade de sotaques e gírias entre os clientes, refletindo a rica pluralidade cultural do Brasil. 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Ademais, a ferramenta utilizada para a transcrição de áudio muitas vezes não se adequa adequadamente à complexidade do idioma brasileiro, o que amplifica a dificuldade de transcrição precisa. 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Essa situação impacta diretamente na elaboração de estratégias de ação e atrasa a resolução das demandas dos clientes. Em várias ocasiões, mais tempo é consumido na análise da transcrição e seu contexto do que na identificação da verdadeira necessidade do cliente, resultando em atrasos na resolução de suas questões e, consequentemente, em sua insatisfação.  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4B2DF1-CADD-07E8-FFB6-7D3FE71692C1}"/>
              </a:ext>
            </a:extLst>
          </p:cNvPr>
          <p:cNvSpPr txBox="1"/>
          <p:nvPr/>
        </p:nvSpPr>
        <p:spPr>
          <a:xfrm>
            <a:off x="3677603" y="626950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4098343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297" y="2763755"/>
            <a:ext cx="11717873" cy="450202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Indicar seu público-alvo, a partir do problema a ser resolvido e a proposta de solução apresentada. 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Definir e entender o público-alvo permite criar produtos de software que não só atendem às necessidades dos usuários de maneira eficaz, mas também oferecem uma experiência agradável e envolvente, aumentando assim as chances de sucesso do produto no mercado.</a:t>
            </a:r>
            <a:endParaRPr lang="pt-BR" dirty="0">
              <a:ea typeface="Calibri"/>
              <a:cs typeface="Calibri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FE26D8-D77D-F500-F828-431DB62DD12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PÚBLICO ALVO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69AD2B25-F509-582D-646E-CB57F5A93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637F8894-3B63-DF14-CDF7-9C9D7E3D9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24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7392" y="2784594"/>
            <a:ext cx="11877215" cy="378437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Explicar como a solução proposta resolve o problema e atinge os objetivos definidos de forma clara e convincente.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Aqui você pode incluir: relatórios, gráficos, diagramas, planos,  protótipos, alguma documentação e tudo mais que a equipe considerar necessário para ilustrar a ideia.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Durante a ideação você pode utilizar a abordagem Design </a:t>
            </a:r>
            <a:r>
              <a:rPr lang="pt-BR" sz="2400" dirty="0" err="1"/>
              <a:t>Thinking</a:t>
            </a:r>
            <a:r>
              <a:rPr lang="pt-BR" sz="2400" dirty="0"/>
              <a:t>, para ajudar na ideação da sua proposta de solução.</a:t>
            </a:r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PROPOSTA DE SOLUÇÃO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922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>
            <a:extLst>
              <a:ext uri="{FF2B5EF4-FFF2-40B4-BE49-F238E27FC236}">
                <a16:creationId xmlns:a16="http://schemas.microsoft.com/office/drawing/2014/main" id="{D1697C7B-CD1A-8DB5-3B0A-818260A1EC59}"/>
              </a:ext>
            </a:extLst>
          </p:cNvPr>
          <p:cNvSpPr/>
          <p:nvPr/>
        </p:nvSpPr>
        <p:spPr>
          <a:xfrm>
            <a:off x="0" y="0"/>
            <a:ext cx="12192000" cy="6893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" name="Linha 1">
            <a:extLst>
              <a:ext uri="{FF2B5EF4-FFF2-40B4-BE49-F238E27FC236}">
                <a16:creationId xmlns:a16="http://schemas.microsoft.com/office/drawing/2014/main" id="{CFA50A68-53F3-BE0B-E702-E668982AAAD3}"/>
              </a:ext>
            </a:extLst>
          </p:cNvPr>
          <p:cNvSpPr>
            <a:spLocks/>
          </p:cNvSpPr>
          <p:nvPr/>
        </p:nvSpPr>
        <p:spPr bwMode="auto">
          <a:xfrm>
            <a:off x="1463311" y="1590124"/>
            <a:ext cx="4095207" cy="1398586"/>
          </a:xfrm>
          <a:custGeom>
            <a:avLst/>
            <a:gdLst>
              <a:gd name="T0" fmla="*/ 822 w 822"/>
              <a:gd name="T1" fmla="*/ 0 h 354"/>
              <a:gd name="T2" fmla="*/ 822 w 822"/>
              <a:gd name="T3" fmla="*/ 12 h 354"/>
              <a:gd name="T4" fmla="*/ 0 w 822"/>
              <a:gd name="T5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22" h="354">
                <a:moveTo>
                  <a:pt x="822" y="0"/>
                </a:moveTo>
                <a:cubicBezTo>
                  <a:pt x="822" y="12"/>
                  <a:pt x="822" y="12"/>
                  <a:pt x="822" y="12"/>
                </a:cubicBezTo>
                <a:cubicBezTo>
                  <a:pt x="822" y="241"/>
                  <a:pt x="0" y="59"/>
                  <a:pt x="0" y="354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7" name="Linha 2">
            <a:extLst>
              <a:ext uri="{FF2B5EF4-FFF2-40B4-BE49-F238E27FC236}">
                <a16:creationId xmlns:a16="http://schemas.microsoft.com/office/drawing/2014/main" id="{AE7CBC5E-AABF-A6B2-5CBE-6483EE5F1883}"/>
              </a:ext>
            </a:extLst>
          </p:cNvPr>
          <p:cNvSpPr>
            <a:spLocks/>
          </p:cNvSpPr>
          <p:nvPr/>
        </p:nvSpPr>
        <p:spPr bwMode="auto">
          <a:xfrm>
            <a:off x="4055065" y="1562532"/>
            <a:ext cx="1773453" cy="1472470"/>
          </a:xfrm>
          <a:custGeom>
            <a:avLst/>
            <a:gdLst>
              <a:gd name="T0" fmla="*/ 0 w 274"/>
              <a:gd name="T1" fmla="*/ 354 h 354"/>
              <a:gd name="T2" fmla="*/ 274 w 274"/>
              <a:gd name="T3" fmla="*/ 11 h 354"/>
              <a:gd name="T4" fmla="*/ 274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0" y="354"/>
                </a:moveTo>
                <a:cubicBezTo>
                  <a:pt x="0" y="162"/>
                  <a:pt x="274" y="173"/>
                  <a:pt x="274" y="11"/>
                </a:cubicBezTo>
                <a:cubicBezTo>
                  <a:pt x="274" y="0"/>
                  <a:pt x="274" y="0"/>
                  <a:pt x="274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8" name="Linha 4">
            <a:extLst>
              <a:ext uri="{FF2B5EF4-FFF2-40B4-BE49-F238E27FC236}">
                <a16:creationId xmlns:a16="http://schemas.microsoft.com/office/drawing/2014/main" id="{47AAA6BF-3FC2-0B63-6CDC-42B28BFF0AB5}"/>
              </a:ext>
            </a:extLst>
          </p:cNvPr>
          <p:cNvSpPr>
            <a:spLocks/>
          </p:cNvSpPr>
          <p:nvPr/>
        </p:nvSpPr>
        <p:spPr bwMode="auto">
          <a:xfrm>
            <a:off x="6468994" y="1544724"/>
            <a:ext cx="4307598" cy="1443985"/>
          </a:xfrm>
          <a:custGeom>
            <a:avLst/>
            <a:gdLst>
              <a:gd name="T0" fmla="*/ 0 w 822"/>
              <a:gd name="T1" fmla="*/ 0 h 354"/>
              <a:gd name="T2" fmla="*/ 0 w 822"/>
              <a:gd name="T3" fmla="*/ 12 h 354"/>
              <a:gd name="T4" fmla="*/ 822 w 822"/>
              <a:gd name="T5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22" h="354">
                <a:moveTo>
                  <a:pt x="0" y="0"/>
                </a:moveTo>
                <a:cubicBezTo>
                  <a:pt x="0" y="12"/>
                  <a:pt x="0" y="12"/>
                  <a:pt x="0" y="12"/>
                </a:cubicBezTo>
                <a:cubicBezTo>
                  <a:pt x="0" y="241"/>
                  <a:pt x="822" y="59"/>
                  <a:pt x="822" y="354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9" name="Linha 3">
            <a:extLst>
              <a:ext uri="{FF2B5EF4-FFF2-40B4-BE49-F238E27FC236}">
                <a16:creationId xmlns:a16="http://schemas.microsoft.com/office/drawing/2014/main" id="{7C3D0F51-9FBD-6A71-0803-8D05B25C94F9}"/>
              </a:ext>
            </a:extLst>
          </p:cNvPr>
          <p:cNvSpPr>
            <a:spLocks/>
          </p:cNvSpPr>
          <p:nvPr/>
        </p:nvSpPr>
        <p:spPr bwMode="auto">
          <a:xfrm>
            <a:off x="6231733" y="1562532"/>
            <a:ext cx="2222347" cy="1426177"/>
          </a:xfrm>
          <a:custGeom>
            <a:avLst/>
            <a:gdLst>
              <a:gd name="T0" fmla="*/ 274 w 274"/>
              <a:gd name="T1" fmla="*/ 354 h 354"/>
              <a:gd name="T2" fmla="*/ 0 w 274"/>
              <a:gd name="T3" fmla="*/ 11 h 354"/>
              <a:gd name="T4" fmla="*/ 0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274" y="354"/>
                </a:moveTo>
                <a:cubicBezTo>
                  <a:pt x="274" y="162"/>
                  <a:pt x="0" y="173"/>
                  <a:pt x="0" y="1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5" name="Bolinha 1">
            <a:extLst>
              <a:ext uri="{FF2B5EF4-FFF2-40B4-BE49-F238E27FC236}">
                <a16:creationId xmlns:a16="http://schemas.microsoft.com/office/drawing/2014/main" id="{59FBB19B-1D0E-D3F2-FD1A-058638F3BE5F}"/>
              </a:ext>
            </a:extLst>
          </p:cNvPr>
          <p:cNvSpPr/>
          <p:nvPr/>
        </p:nvSpPr>
        <p:spPr>
          <a:xfrm>
            <a:off x="5498466" y="1445221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" name="Bolinha 4">
            <a:extLst>
              <a:ext uri="{FF2B5EF4-FFF2-40B4-BE49-F238E27FC236}">
                <a16:creationId xmlns:a16="http://schemas.microsoft.com/office/drawing/2014/main" id="{2F27F7FC-9FBE-6E3B-D15A-A7F07C4CC9E9}"/>
              </a:ext>
            </a:extLst>
          </p:cNvPr>
          <p:cNvSpPr/>
          <p:nvPr/>
        </p:nvSpPr>
        <p:spPr>
          <a:xfrm>
            <a:off x="6363851" y="1455723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" name="Bolinha 2">
            <a:extLst>
              <a:ext uri="{FF2B5EF4-FFF2-40B4-BE49-F238E27FC236}">
                <a16:creationId xmlns:a16="http://schemas.microsoft.com/office/drawing/2014/main" id="{9ADF999C-263B-D739-F0E4-B9558530D46F}"/>
              </a:ext>
            </a:extLst>
          </p:cNvPr>
          <p:cNvSpPr/>
          <p:nvPr/>
        </p:nvSpPr>
        <p:spPr>
          <a:xfrm>
            <a:off x="5787836" y="1474503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8" name="Bolinha 3">
            <a:extLst>
              <a:ext uri="{FF2B5EF4-FFF2-40B4-BE49-F238E27FC236}">
                <a16:creationId xmlns:a16="http://schemas.microsoft.com/office/drawing/2014/main" id="{E4617D2A-FCCA-30F3-082F-2972BF3F5068}"/>
              </a:ext>
            </a:extLst>
          </p:cNvPr>
          <p:cNvSpPr/>
          <p:nvPr/>
        </p:nvSpPr>
        <p:spPr>
          <a:xfrm>
            <a:off x="6128415" y="1474200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grpSp>
        <p:nvGrpSpPr>
          <p:cNvPr id="19" name="Forma 1">
            <a:extLst>
              <a:ext uri="{FF2B5EF4-FFF2-40B4-BE49-F238E27FC236}">
                <a16:creationId xmlns:a16="http://schemas.microsoft.com/office/drawing/2014/main" id="{47AB3D80-E338-EC46-1D28-A3C9087ED6BA}"/>
              </a:ext>
            </a:extLst>
          </p:cNvPr>
          <p:cNvGrpSpPr/>
          <p:nvPr/>
        </p:nvGrpSpPr>
        <p:grpSpPr>
          <a:xfrm>
            <a:off x="844085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0" name="ÍC1">
              <a:extLst>
                <a:ext uri="{FF2B5EF4-FFF2-40B4-BE49-F238E27FC236}">
                  <a16:creationId xmlns:a16="http://schemas.microsoft.com/office/drawing/2014/main" id="{2001FB42-6B79-7DA0-EECF-9474B4AF4FE7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1" name="Contorno 1">
              <a:extLst>
                <a:ext uri="{FF2B5EF4-FFF2-40B4-BE49-F238E27FC236}">
                  <a16:creationId xmlns:a16="http://schemas.microsoft.com/office/drawing/2014/main" id="{5AE7FE16-2C83-60D1-E2A0-888ACAA916B7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22" name="Forma 2">
            <a:extLst>
              <a:ext uri="{FF2B5EF4-FFF2-40B4-BE49-F238E27FC236}">
                <a16:creationId xmlns:a16="http://schemas.microsoft.com/office/drawing/2014/main" id="{CB86C969-B4F8-E3A0-26D1-14AE2462A07E}"/>
              </a:ext>
            </a:extLst>
          </p:cNvPr>
          <p:cNvGrpSpPr/>
          <p:nvPr/>
        </p:nvGrpSpPr>
        <p:grpSpPr>
          <a:xfrm>
            <a:off x="3180885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3" name="ÍC2">
              <a:extLst>
                <a:ext uri="{FF2B5EF4-FFF2-40B4-BE49-F238E27FC236}">
                  <a16:creationId xmlns:a16="http://schemas.microsoft.com/office/drawing/2014/main" id="{4FDC5F16-6EC9-CF68-E26A-3DE89691B5A4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4" name="Contorno 2">
              <a:extLst>
                <a:ext uri="{FF2B5EF4-FFF2-40B4-BE49-F238E27FC236}">
                  <a16:creationId xmlns:a16="http://schemas.microsoft.com/office/drawing/2014/main" id="{91E11F68-FDCB-714D-8229-379B0F18FFEB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25" name="Forma 3">
            <a:extLst>
              <a:ext uri="{FF2B5EF4-FFF2-40B4-BE49-F238E27FC236}">
                <a16:creationId xmlns:a16="http://schemas.microsoft.com/office/drawing/2014/main" id="{D586B598-98ED-91BB-4A4D-8D20DB3C8EB5}"/>
              </a:ext>
            </a:extLst>
          </p:cNvPr>
          <p:cNvGrpSpPr/>
          <p:nvPr/>
        </p:nvGrpSpPr>
        <p:grpSpPr>
          <a:xfrm>
            <a:off x="7836440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6" name="ÍC3">
              <a:extLst>
                <a:ext uri="{FF2B5EF4-FFF2-40B4-BE49-F238E27FC236}">
                  <a16:creationId xmlns:a16="http://schemas.microsoft.com/office/drawing/2014/main" id="{2474E9A0-EC2F-D23F-D2E5-83296F1C7FED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7" name="Contorno 3">
              <a:extLst>
                <a:ext uri="{FF2B5EF4-FFF2-40B4-BE49-F238E27FC236}">
                  <a16:creationId xmlns:a16="http://schemas.microsoft.com/office/drawing/2014/main" id="{1384A832-DDA6-C2F8-CA0D-24DFD15A4A24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28" name="Forma 4">
            <a:extLst>
              <a:ext uri="{FF2B5EF4-FFF2-40B4-BE49-F238E27FC236}">
                <a16:creationId xmlns:a16="http://schemas.microsoft.com/office/drawing/2014/main" id="{3B15863F-47C6-FAF4-0429-DA54F7F3171B}"/>
              </a:ext>
            </a:extLst>
          </p:cNvPr>
          <p:cNvGrpSpPr/>
          <p:nvPr/>
        </p:nvGrpSpPr>
        <p:grpSpPr>
          <a:xfrm>
            <a:off x="10160540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9" name="ÍC4">
              <a:extLst>
                <a:ext uri="{FF2B5EF4-FFF2-40B4-BE49-F238E27FC236}">
                  <a16:creationId xmlns:a16="http://schemas.microsoft.com/office/drawing/2014/main" id="{5A01B79D-A573-E3A4-0B79-6A0ABE8C85A2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30" name="Contorno 4">
              <a:extLst>
                <a:ext uri="{FF2B5EF4-FFF2-40B4-BE49-F238E27FC236}">
                  <a16:creationId xmlns:a16="http://schemas.microsoft.com/office/drawing/2014/main" id="{910CE174-CEE7-2A44-78C7-96FEAAC988DA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36" name="TXT1">
            <a:extLst>
              <a:ext uri="{FF2B5EF4-FFF2-40B4-BE49-F238E27FC236}">
                <a16:creationId xmlns:a16="http://schemas.microsoft.com/office/drawing/2014/main" id="{740FAF08-4627-05FD-97A1-2B93E44133EB}"/>
              </a:ext>
            </a:extLst>
          </p:cNvPr>
          <p:cNvSpPr txBox="1"/>
          <p:nvPr/>
        </p:nvSpPr>
        <p:spPr>
          <a:xfrm>
            <a:off x="363505" y="4576508"/>
            <a:ext cx="21427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Transcrição do Áudio  </a:t>
            </a:r>
            <a:r>
              <a:rPr lang="pt-BR" dirty="0">
                <a:solidFill>
                  <a:schemeClr val="tx1"/>
                </a:solidFill>
              </a:rPr>
              <a:t>Utilização de uma ferramenta capaz de transcrever os áudios, separando a voz do atendente e do cliente.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38" name="TXT2">
            <a:extLst>
              <a:ext uri="{FF2B5EF4-FFF2-40B4-BE49-F238E27FC236}">
                <a16:creationId xmlns:a16="http://schemas.microsoft.com/office/drawing/2014/main" id="{F6A01037-99EF-72F0-8D2A-7CF3F834BE17}"/>
              </a:ext>
            </a:extLst>
          </p:cNvPr>
          <p:cNvSpPr txBox="1"/>
          <p:nvPr/>
        </p:nvSpPr>
        <p:spPr>
          <a:xfrm>
            <a:off x="2639028" y="4576508"/>
            <a:ext cx="23843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Correção do Contexto </a:t>
            </a:r>
            <a:r>
              <a:rPr lang="pt-BR" dirty="0">
                <a:solidFill>
                  <a:schemeClr val="tx1"/>
                </a:solidFill>
              </a:rPr>
              <a:t> Caso a transcrição não seja 100% fiel ao áudio, utilizaremos uma ferramenta capaz de analisar e corrigir o texto, trazendo um melhor contexto para a conversa. 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40" name="TXT3">
            <a:extLst>
              <a:ext uri="{FF2B5EF4-FFF2-40B4-BE49-F238E27FC236}">
                <a16:creationId xmlns:a16="http://schemas.microsoft.com/office/drawing/2014/main" id="{B4981CE9-0147-2885-6F5F-0487FF52409E}"/>
              </a:ext>
            </a:extLst>
          </p:cNvPr>
          <p:cNvSpPr txBox="1"/>
          <p:nvPr/>
        </p:nvSpPr>
        <p:spPr>
          <a:xfrm>
            <a:off x="7490755" y="4576508"/>
            <a:ext cx="21427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Análise de Sentimento  </a:t>
            </a:r>
            <a:r>
              <a:rPr lang="pt-BR" dirty="0">
                <a:solidFill>
                  <a:schemeClr val="tx1"/>
                </a:solidFill>
              </a:rPr>
              <a:t>Iremos analisar o sentimento do cliente perante a conversa, assim sabendo se é um feedback negativo ou positivo. 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42" name="TXT4">
            <a:extLst>
              <a:ext uri="{FF2B5EF4-FFF2-40B4-BE49-F238E27FC236}">
                <a16:creationId xmlns:a16="http://schemas.microsoft.com/office/drawing/2014/main" id="{3E8627F2-8FE1-6CE0-A30C-ABFB9C351D25}"/>
              </a:ext>
            </a:extLst>
          </p:cNvPr>
          <p:cNvSpPr txBox="1"/>
          <p:nvPr/>
        </p:nvSpPr>
        <p:spPr>
          <a:xfrm>
            <a:off x="9618564" y="4576508"/>
            <a:ext cx="24769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Consolidação das Informações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Mini relatório com o resumo de todos os passos, apresentando qual o principal problema do cliente, notas e sentimento do cliente quanto ao serviço. 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44" name="ÍC1">
            <a:extLst>
              <a:ext uri="{FF2B5EF4-FFF2-40B4-BE49-F238E27FC236}">
                <a16:creationId xmlns:a16="http://schemas.microsoft.com/office/drawing/2014/main" id="{CB267261-F221-40C9-87D0-B5D538939B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8518" y="3424355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pic>
        <p:nvPicPr>
          <p:cNvPr id="46" name="ÍC4">
            <a:extLst>
              <a:ext uri="{FF2B5EF4-FFF2-40B4-BE49-F238E27FC236}">
                <a16:creationId xmlns:a16="http://schemas.microsoft.com/office/drawing/2014/main" id="{4DD3E515-E701-606B-0B47-C5622B8408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62691" y="3424355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pic>
        <p:nvPicPr>
          <p:cNvPr id="48" name="ÍC3">
            <a:extLst>
              <a:ext uri="{FF2B5EF4-FFF2-40B4-BE49-F238E27FC236}">
                <a16:creationId xmlns:a16="http://schemas.microsoft.com/office/drawing/2014/main" id="{82103435-3C6D-DD94-ECAB-D2D7190AA7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6440" y="3450227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pic>
        <p:nvPicPr>
          <p:cNvPr id="50" name="ÍC2">
            <a:extLst>
              <a:ext uri="{FF2B5EF4-FFF2-40B4-BE49-F238E27FC236}">
                <a16:creationId xmlns:a16="http://schemas.microsoft.com/office/drawing/2014/main" id="{85720F0C-C581-7D24-773A-2154DD69536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50885" y="3372825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sp>
        <p:nvSpPr>
          <p:cNvPr id="2" name="Linha 2">
            <a:extLst>
              <a:ext uri="{FF2B5EF4-FFF2-40B4-BE49-F238E27FC236}">
                <a16:creationId xmlns:a16="http://schemas.microsoft.com/office/drawing/2014/main" id="{8CB2025A-27E5-A3FD-9F05-A6D43DB39DA6}"/>
              </a:ext>
            </a:extLst>
          </p:cNvPr>
          <p:cNvSpPr>
            <a:spLocks/>
          </p:cNvSpPr>
          <p:nvPr/>
        </p:nvSpPr>
        <p:spPr bwMode="auto">
          <a:xfrm rot="305147" flipH="1">
            <a:off x="5963583" y="1623846"/>
            <a:ext cx="188634" cy="1379449"/>
          </a:xfrm>
          <a:custGeom>
            <a:avLst/>
            <a:gdLst>
              <a:gd name="T0" fmla="*/ 0 w 274"/>
              <a:gd name="T1" fmla="*/ 354 h 354"/>
              <a:gd name="T2" fmla="*/ 274 w 274"/>
              <a:gd name="T3" fmla="*/ 11 h 354"/>
              <a:gd name="T4" fmla="*/ 274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0" y="354"/>
                </a:moveTo>
                <a:cubicBezTo>
                  <a:pt x="0" y="162"/>
                  <a:pt x="274" y="173"/>
                  <a:pt x="274" y="11"/>
                </a:cubicBezTo>
                <a:cubicBezTo>
                  <a:pt x="274" y="0"/>
                  <a:pt x="274" y="0"/>
                  <a:pt x="274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grpSp>
        <p:nvGrpSpPr>
          <p:cNvPr id="4" name="Forma 2">
            <a:extLst>
              <a:ext uri="{FF2B5EF4-FFF2-40B4-BE49-F238E27FC236}">
                <a16:creationId xmlns:a16="http://schemas.microsoft.com/office/drawing/2014/main" id="{B18064E7-1F7B-8208-A5F7-832B05B753EA}"/>
              </a:ext>
            </a:extLst>
          </p:cNvPr>
          <p:cNvGrpSpPr/>
          <p:nvPr/>
        </p:nvGrpSpPr>
        <p:grpSpPr>
          <a:xfrm>
            <a:off x="5558519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5" name="ÍC2">
              <a:extLst>
                <a:ext uri="{FF2B5EF4-FFF2-40B4-BE49-F238E27FC236}">
                  <a16:creationId xmlns:a16="http://schemas.microsoft.com/office/drawing/2014/main" id="{0A974D12-2294-7533-6C70-792E149AEF96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3" name="Contorno 2">
              <a:extLst>
                <a:ext uri="{FF2B5EF4-FFF2-40B4-BE49-F238E27FC236}">
                  <a16:creationId xmlns:a16="http://schemas.microsoft.com/office/drawing/2014/main" id="{9BA2D67F-08E2-FD11-7D5D-3249253829B6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32" name="Bolinha 4">
            <a:extLst>
              <a:ext uri="{FF2B5EF4-FFF2-40B4-BE49-F238E27FC236}">
                <a16:creationId xmlns:a16="http://schemas.microsoft.com/office/drawing/2014/main" id="{65B273EC-F1EB-139F-F056-2E4797DCCF1F}"/>
              </a:ext>
            </a:extLst>
          </p:cNvPr>
          <p:cNvSpPr/>
          <p:nvPr/>
        </p:nvSpPr>
        <p:spPr>
          <a:xfrm>
            <a:off x="5963090" y="1483944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3" name="TXT2">
            <a:extLst>
              <a:ext uri="{FF2B5EF4-FFF2-40B4-BE49-F238E27FC236}">
                <a16:creationId xmlns:a16="http://schemas.microsoft.com/office/drawing/2014/main" id="{DAE14B43-4068-5D3A-EDB6-7CF3BA101350}"/>
              </a:ext>
            </a:extLst>
          </p:cNvPr>
          <p:cNvSpPr txBox="1"/>
          <p:nvPr/>
        </p:nvSpPr>
        <p:spPr>
          <a:xfrm>
            <a:off x="5156316" y="4570862"/>
            <a:ext cx="21427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Otimização do Texto  </a:t>
            </a:r>
            <a:r>
              <a:rPr lang="pt-BR" dirty="0">
                <a:solidFill>
                  <a:schemeClr val="tx1"/>
                </a:solidFill>
              </a:rPr>
              <a:t>Remoção de palavras desnecessárias (preposições) ao longo da conversa, assim filtrando e otimizando ainda mais o texto da transcrição. 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34" name="ÍC3">
            <a:extLst>
              <a:ext uri="{FF2B5EF4-FFF2-40B4-BE49-F238E27FC236}">
                <a16:creationId xmlns:a16="http://schemas.microsoft.com/office/drawing/2014/main" id="{D0CD6B15-788B-58A0-CB1D-9581CE73DAE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0575" y="3195082"/>
            <a:ext cx="927019" cy="927019"/>
          </a:xfrm>
          <a:prstGeom prst="rect">
            <a:avLst/>
          </a:prstGeom>
        </p:spPr>
      </p:pic>
      <p:sp>
        <p:nvSpPr>
          <p:cNvPr id="31" name="Título 1">
            <a:extLst>
              <a:ext uri="{FF2B5EF4-FFF2-40B4-BE49-F238E27FC236}">
                <a16:creationId xmlns:a16="http://schemas.microsoft.com/office/drawing/2014/main" id="{BB3189D1-68EA-7207-4A96-3F3601F98F5D}"/>
              </a:ext>
            </a:extLst>
          </p:cNvPr>
          <p:cNvSpPr txBox="1">
            <a:spLocks/>
          </p:cNvSpPr>
          <p:nvPr/>
        </p:nvSpPr>
        <p:spPr>
          <a:xfrm>
            <a:off x="807179" y="264248"/>
            <a:ext cx="11257344" cy="8172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EXEMPLO DE PROPOSTA DE SOLUÇÃO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E489BA-7D5C-1B1D-86E9-20B82514DA3D}"/>
              </a:ext>
            </a:extLst>
          </p:cNvPr>
          <p:cNvSpPr txBox="1"/>
          <p:nvPr/>
        </p:nvSpPr>
        <p:spPr>
          <a:xfrm>
            <a:off x="3677603" y="639523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20840004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039 0.00024 C -0.00273 0.04051 -0.02656 0.0713 -0.13242 0.08473 C -0.24088 0.09931 -0.33502 0.1169 -0.33698 0.21204 " pathEditMode="relative" rAng="16200000" ptsTypes="AAA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36" y="1060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29 -0.00024 C -0.00013 0.05162 0.02618 0.07361 0.15157 0.08819 C 0.19909 0.09675 0.35196 0.09861 0.35196 0.21319 " pathEditMode="relative" rAng="16200000" ptsTypes="AAA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12" y="1067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17 -2.96296E-6 C -0.0082 0.0419 -0.02188 0.06088 -0.0724 0.09653 C -0.11706 0.13797 -0.14857 0.13241 -0.1569 0.21922 " pathEditMode="relative" rAng="16200000" ptsTypes="AAA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43" y="10972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03 -2.96296E-6 C -0.00403 0.05047 0.03828 0.06806 0.07227 0.08681 C 0.14453 0.13218 0.1737 0.13935 0.18099 0.20371 " pathEditMode="relative" rAng="16200000" ptsTypes="AAA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45" y="10185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1.66667E-6 2.96296E-6 L 0.01523 0.04676 " pathEditMode="relative" rAng="0" ptsTypes="AA">
                                      <p:cBhvr>
                                        <p:cTn id="69" dur="75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2.70833E-6 2.22222E-6 L 0.01524 0.04676 " pathEditMode="relative" rAng="0" ptsTypes="AA">
                                      <p:cBhvr>
                                        <p:cTn id="74" dur="75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3.54167E-6 2.22222E-6 L 0.01524 0.04676 " pathEditMode="relative" rAng="0" ptsTypes="AA">
                                      <p:cBhvr>
                                        <p:cTn id="79" dur="75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4.79167E-6 1.48148E-6 L 0.01524 0.04676 " pathEditMode="relative" rAng="0" ptsTypes="AA">
                                      <p:cBhvr>
                                        <p:cTn id="84" dur="75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221 -0.00347 C -0.00221 0.04584 -0.00195 0.06667 -0.00065 0.08056 C -0.00026 0.08866 0.00143 0.09051 0.00143 0.19931 " pathEditMode="relative" rAng="16200000" ptsTypes="AAA">
                                      <p:cBhvr>
                                        <p:cTn id="9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10139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2.70833E-6 -2.59259E-6 L 0.01523 0.04676 " pathEditMode="relative" rAng="0" ptsTypes="AA">
                                      <p:cBhvr>
                                        <p:cTn id="101" dur="75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36" grpId="0"/>
      <p:bldP spid="36" grpId="1"/>
      <p:bldP spid="38" grpId="0"/>
      <p:bldP spid="38" grpId="1"/>
      <p:bldP spid="40" grpId="0"/>
      <p:bldP spid="40" grpId="1"/>
      <p:bldP spid="42" grpId="0"/>
      <p:bldP spid="42" grpId="1"/>
      <p:bldP spid="2" grpId="0" animBg="1"/>
      <p:bldP spid="32" grpId="0" animBg="1"/>
      <p:bldP spid="32" grpId="1" animBg="1"/>
      <p:bldP spid="33" grpId="0"/>
      <p:bldP spid="3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500" y="1461264"/>
            <a:ext cx="11868943" cy="37046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aos stakeholders: Aqui você pode indicar os principais grupos ou partes interessadas ou afetadas pela solução e como ela pode impactar positivamente as partes afetadas.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aspectos ambientais e sociais:  Aqui você pode avaliar o impacto ambiental da solução, considerando fatores como  pegada de carbono, uso de recursos naturais, poluição, etc. Além da solução afetar comunidades locais e a sociedade de uma forma geral.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viabilidade e escalabilidade: Aqui você pode analisar a viabilidade da implementação da solução pensando nos recursos necessários, prazos e capacidade técnica, além da capacidade de expansão e respectivo impacto para um público  maior ou de diferentes contextos.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métricas de avaliação: Aqui você pode definir indicadores ou métricas que serão utilizados para medir o impacto da solução ao longo do tempo. É importante estabelecer objetivos claros que ajudem acompanhar o progresso.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sustentabilidade a longo prazo: Aqui você pode considerar como a solução poderá ser sustentável a longo prazo, garantindo que os benefícios não sejam temporários.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participação da comunidade: A participação e envolvimento da comunidade na concepção e implementação da solução pode fortalecer o impacto? ( se aplicável)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D72814E-ED7A-8909-94FA-F6D0DB9FB0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IMPACTOS DA SOLUÇÃO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44C0134E-5C1A-5A34-3591-29AEF6DEB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7526" y="19808"/>
            <a:ext cx="1594474" cy="106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64C8BFF-D273-8797-16AC-09D243D5D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08"/>
            <a:ext cx="1470580" cy="1203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513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2469" y="42237"/>
            <a:ext cx="10515600" cy="1325563"/>
          </a:xfrm>
        </p:spPr>
        <p:txBody>
          <a:bodyPr/>
          <a:lstStyle/>
          <a:p>
            <a:r>
              <a:rPr lang="pt-BR" dirty="0"/>
              <a:t>EXEMPLO DE IMPACTOS DA SOLUÇÃO</a:t>
            </a:r>
          </a:p>
        </p:txBody>
      </p:sp>
      <p:sp>
        <p:nvSpPr>
          <p:cNvPr id="6" name="T1">
            <a:extLst>
              <a:ext uri="{FF2B5EF4-FFF2-40B4-BE49-F238E27FC236}">
                <a16:creationId xmlns:a16="http://schemas.microsoft.com/office/drawing/2014/main" id="{1D511FFB-2310-43D9-3384-1BD2DC42FB87}"/>
              </a:ext>
            </a:extLst>
          </p:cNvPr>
          <p:cNvSpPr txBox="1"/>
          <p:nvPr/>
        </p:nvSpPr>
        <p:spPr>
          <a:xfrm>
            <a:off x="1113128" y="1553535"/>
            <a:ext cx="36110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MELHORIA NO ATENDIMENTO AO CLIENTE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XT1">
            <a:extLst>
              <a:ext uri="{FF2B5EF4-FFF2-40B4-BE49-F238E27FC236}">
                <a16:creationId xmlns:a16="http://schemas.microsoft.com/office/drawing/2014/main" id="{B8A08577-6E04-B95F-75CC-19F19E8A6CAF}"/>
              </a:ext>
            </a:extLst>
          </p:cNvPr>
          <p:cNvSpPr txBox="1"/>
          <p:nvPr/>
        </p:nvSpPr>
        <p:spPr>
          <a:xfrm>
            <a:off x="1113128" y="1957122"/>
            <a:ext cx="35738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just"/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a implementação de transcrição automatizada e análise de sentimentos, as interações com os clientes se tornam mais eficientes e personalizadas. Isso permite que as empresas respondam prontamente às necessidades e emoções dos clientes, aumentando a satisfação e fidelidade do cliente.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3">
            <a:extLst>
              <a:ext uri="{FF2B5EF4-FFF2-40B4-BE49-F238E27FC236}">
                <a16:creationId xmlns:a16="http://schemas.microsoft.com/office/drawing/2014/main" id="{7BCC832B-33C3-C895-1C30-B55F19474561}"/>
              </a:ext>
            </a:extLst>
          </p:cNvPr>
          <p:cNvSpPr txBox="1"/>
          <p:nvPr/>
        </p:nvSpPr>
        <p:spPr>
          <a:xfrm>
            <a:off x="6999578" y="1556383"/>
            <a:ext cx="3896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AVANÇOS NA PESQUISA DE MERCADO E ANALISE DE FEEDBACK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XT3">
            <a:extLst>
              <a:ext uri="{FF2B5EF4-FFF2-40B4-BE49-F238E27FC236}">
                <a16:creationId xmlns:a16="http://schemas.microsoft.com/office/drawing/2014/main" id="{46E88EC5-7C87-C979-257E-CA49EE6CC463}"/>
              </a:ext>
            </a:extLst>
          </p:cNvPr>
          <p:cNvSpPr txBox="1"/>
          <p:nvPr/>
        </p:nvSpPr>
        <p:spPr>
          <a:xfrm>
            <a:off x="7009500" y="2093069"/>
            <a:ext cx="35638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capacidade de transcrever e analisar grandes volumes de feedback de clientes, incluindo avaliações de produtos e comentários em redes sociais, permite a identificação de tendências e padrões. Este insight é crucial para refinar estratégias de marketing, desenvolver novos produtos e ajustar serviços para atender melhor às demandas do mercado.</a:t>
            </a:r>
          </a:p>
        </p:txBody>
      </p:sp>
      <p:sp>
        <p:nvSpPr>
          <p:cNvPr id="10" name="T4">
            <a:extLst>
              <a:ext uri="{FF2B5EF4-FFF2-40B4-BE49-F238E27FC236}">
                <a16:creationId xmlns:a16="http://schemas.microsoft.com/office/drawing/2014/main" id="{63447244-1571-F896-F9EA-3E9A3ADABC15}"/>
              </a:ext>
            </a:extLst>
          </p:cNvPr>
          <p:cNvSpPr txBox="1"/>
          <p:nvPr/>
        </p:nvSpPr>
        <p:spPr>
          <a:xfrm>
            <a:off x="1070570" y="4144450"/>
            <a:ext cx="36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APRIMORAMENTO DE PRODUTOS  E PROCESSOS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XT4">
            <a:extLst>
              <a:ext uri="{FF2B5EF4-FFF2-40B4-BE49-F238E27FC236}">
                <a16:creationId xmlns:a16="http://schemas.microsoft.com/office/drawing/2014/main" id="{578A19CA-A976-4DAD-7E5B-A36EA0789686}"/>
              </a:ext>
            </a:extLst>
          </p:cNvPr>
          <p:cNvSpPr txBox="1"/>
          <p:nvPr/>
        </p:nvSpPr>
        <p:spPr>
          <a:xfrm>
            <a:off x="1070569" y="4605187"/>
            <a:ext cx="35738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análise detalhada dos sentimentos dos clientes em relação a produtos e serviços ajuda as empresas a identificar pontos críticos para melhorias. Isso pode resultar em ajustes no design de produtos, funcionalidade e usabilidade, bem como na otimização de processos internos para aumentar a eficiência operacional e reduzir custos.</a:t>
            </a:r>
          </a:p>
        </p:txBody>
      </p:sp>
      <p:sp>
        <p:nvSpPr>
          <p:cNvPr id="12" name="T3">
            <a:extLst>
              <a:ext uri="{FF2B5EF4-FFF2-40B4-BE49-F238E27FC236}">
                <a16:creationId xmlns:a16="http://schemas.microsoft.com/office/drawing/2014/main" id="{D5C81405-21D1-EC04-B032-59D6C1002D88}"/>
              </a:ext>
            </a:extLst>
          </p:cNvPr>
          <p:cNvSpPr txBox="1"/>
          <p:nvPr/>
        </p:nvSpPr>
        <p:spPr>
          <a:xfrm>
            <a:off x="6915151" y="4263012"/>
            <a:ext cx="4424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CONTRIBUIÇÃO PARA A RESPONSIVIDADE EMPRESARIAL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XT3">
            <a:extLst>
              <a:ext uri="{FF2B5EF4-FFF2-40B4-BE49-F238E27FC236}">
                <a16:creationId xmlns:a16="http://schemas.microsoft.com/office/drawing/2014/main" id="{8113AF47-0F2D-FD4C-61F8-5B52A4CF8C2B}"/>
              </a:ext>
            </a:extLst>
          </p:cNvPr>
          <p:cNvSpPr txBox="1"/>
          <p:nvPr/>
        </p:nvSpPr>
        <p:spPr>
          <a:xfrm>
            <a:off x="6915150" y="4746609"/>
            <a:ext cx="44240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Empresas equipadas com ferramentas que fornecem transcrições precisas e análises de sentimentos podem reagir mais rapidamente às mudanças nas preferências dos consumidores e às condições de mercado, mantendo-se competitivas e inovadoras.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583DCE-925C-D291-942E-C3CF8F1D185E}"/>
              </a:ext>
            </a:extLst>
          </p:cNvPr>
          <p:cNvSpPr txBox="1"/>
          <p:nvPr/>
        </p:nvSpPr>
        <p:spPr>
          <a:xfrm>
            <a:off x="3677603" y="626950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190404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6258" y="2388626"/>
            <a:ext cx="11874913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Liste os benefícios que a solução proposta pode oferecer. Isso pode incluir aumento de receita, redução de custos, melhoria da eficiência, satisfação do cliente, vantagem competitiva, entre outros.</a:t>
            </a:r>
          </a:p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Priorize os benefícios: Classifique os benefícios em ordem de importância para as partes interessadas e para o sucesso geral do projeto. Isso ajuda a concentrar os esforços e recursos nos aspectos mais cruciais.</a:t>
            </a:r>
          </a:p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Defina métricas de sucesso:  Para cada benefício esperado, estabeleça métricas específicas que permitam medir o progresso e o sucesso. Por exemplo, se o benefício for a redução de custos, a métrica pode ser o valor em dólar economizado.</a:t>
            </a:r>
          </a:p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Quantifique sempre que possível: Quando for possível, forneça números concretos para apoiar seus benefícios esperados. Isso torna mais fácil acompanhar o progresso e avaliar o impacto real da solução.</a:t>
            </a:r>
          </a:p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Considere riscos e incertezas: Reconheça que nem todos os benefícios podem ser garantidos e que há riscos e incertezas envolvidos. Avalie esses fatores e esteja preparado para ajustar suas expectativas, se necessário.</a:t>
            </a:r>
          </a:p>
          <a:p>
            <a:pPr algn="l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6C683E1-07CF-EF12-A8DF-4B93830FE8D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BENEFÍCIOS ESPERADOS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8C3D6C53-F011-B4E7-CD7D-535DDD925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164" y="1222372"/>
            <a:ext cx="1480007" cy="98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984AE808-0DDA-BE0B-58C8-6089FF0B7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480007" cy="121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6609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EXEMPLO DE BENEFÍCIOS ESPERADOS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0511" y="1464444"/>
            <a:ext cx="1140643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200" b="1" dirty="0"/>
              <a:t>Agilidade nos processos: </a:t>
            </a:r>
            <a:r>
              <a:rPr lang="pt-BR" sz="2200" dirty="0"/>
              <a:t>com transcrições mais claras e precisas, a equipe de suporte ao cliente pode identificar e resolver as questões dos clientes mais rapidamente, acelerando o processo de "Close de Loop" e aumentando a satisfação do cliente. 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200" dirty="0"/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200" b="1" dirty="0"/>
              <a:t>Inovação e aumento da eficiência: </a:t>
            </a:r>
            <a:r>
              <a:rPr lang="pt-BR" sz="2200" dirty="0"/>
              <a:t>Insights mais precisos e detalhados sobre as expectativas e insatisfações dos clientes podem guiar a inovação dentro da empresa, levando ao desenvolvimento de novos produtos e serviços que melhor atendem às demandas do mercado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200" dirty="0"/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200" b="1" dirty="0"/>
              <a:t>Redução de custos: </a:t>
            </a:r>
            <a:r>
              <a:rPr lang="pt-BR" sz="2200" dirty="0"/>
              <a:t>A eficiência trazida por transcrições precisas diminui a necessidade de revisões e retrabalhos, reduzindo o tempo gasto pelos analistas e o custo associado ao tratamento de dados de feedback.</a:t>
            </a:r>
          </a:p>
          <a:p>
            <a:pPr>
              <a:lnSpc>
                <a:spcPct val="100000"/>
              </a:lnSpc>
              <a:buNone/>
            </a:pPr>
            <a:endParaRPr lang="pt-BR" sz="2200" dirty="0"/>
          </a:p>
          <a:p>
            <a:pPr>
              <a:lnSpc>
                <a:spcPct val="100000"/>
              </a:lnSpc>
              <a:buNone/>
            </a:pPr>
            <a:endParaRPr lang="pt-BR" sz="22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algn="l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680F1BF-364B-1630-40C0-721DAF9B5104}"/>
              </a:ext>
            </a:extLst>
          </p:cNvPr>
          <p:cNvSpPr txBox="1"/>
          <p:nvPr/>
        </p:nvSpPr>
        <p:spPr>
          <a:xfrm>
            <a:off x="3677603" y="626950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3080583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55422" y="1257994"/>
            <a:ext cx="8465270" cy="915426"/>
          </a:xfrm>
        </p:spPr>
        <p:txBody>
          <a:bodyPr>
            <a:normAutofit/>
          </a:bodyPr>
          <a:lstStyle/>
          <a:p>
            <a:pPr algn="l"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dirty="0"/>
              <a:t>Um quadro comparativo destacando os pontos positivos da solução enriquece ainda mais a análise.</a:t>
            </a:r>
          </a:p>
          <a:p>
            <a:pPr algn="l"/>
            <a:endParaRPr lang="pt-BR" dirty="0"/>
          </a:p>
          <a:p>
            <a:pPr algn="l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37AB850-C643-72EF-1DE0-F0FFBE303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06" y="2905476"/>
            <a:ext cx="5130773" cy="302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ste ou aquele - Porque o cliente escolhe o concorrente e não você?">
            <a:extLst>
              <a:ext uri="{FF2B5EF4-FFF2-40B4-BE49-F238E27FC236}">
                <a16:creationId xmlns:a16="http://schemas.microsoft.com/office/drawing/2014/main" id="{8FB33B5E-118A-0EBA-9787-56B6CCCBD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641" y="2541417"/>
            <a:ext cx="4072955" cy="368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FFB6458-BE09-90FA-97D4-0A9B19DC4E44}"/>
              </a:ext>
            </a:extLst>
          </p:cNvPr>
          <p:cNvSpPr txBox="1">
            <a:spLocks/>
          </p:cNvSpPr>
          <p:nvPr/>
        </p:nvSpPr>
        <p:spPr>
          <a:xfrm>
            <a:off x="538896" y="6405883"/>
            <a:ext cx="10891104" cy="445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dirty="0"/>
              <a:t>Exemplo Ilustrativo – Quadro comparativo de funcionalidades oferecidas de uma determinada solução por concorrentes distintos – Fonte: Google Imagens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6AF4C28-DC7B-D3A0-5CC8-B8130FE374A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COMPARATIVO COM A CONCORRÊNCIA</a:t>
            </a:r>
          </a:p>
        </p:txBody>
      </p:sp>
      <p:pic>
        <p:nvPicPr>
          <p:cNvPr id="8" name="Picture 2" descr="Generated image">
            <a:extLst>
              <a:ext uri="{FF2B5EF4-FFF2-40B4-BE49-F238E27FC236}">
                <a16:creationId xmlns:a16="http://schemas.microsoft.com/office/drawing/2014/main" id="{DAB794FE-F1F8-0239-3735-33AEA6D38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164" y="1222372"/>
            <a:ext cx="1480007" cy="98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F01B7995-04EA-8F73-68E4-D496599FD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480007" cy="121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17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pt-BR" sz="6600"/>
              <a:t>Finalização e Agradecimentos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3974" cy="156948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pt-BR" dirty="0"/>
              <a:t>#DICAS</a:t>
            </a:r>
          </a:p>
          <a:p>
            <a:pPr algn="l"/>
            <a:r>
              <a:rPr lang="pt-BR" dirty="0"/>
              <a:t>Aqui você pode inserir uma conclusão final e agradecer as pessoas que foi submetida sua apresentação.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66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6194295-1792-4b63-878c-b29c2ff82726">
      <Terms xmlns="http://schemas.microsoft.com/office/infopath/2007/PartnerControls"/>
    </lcf76f155ced4ddcb4097134ff3c332f>
    <TaxCatchAll xmlns="49c50ba2-eaf4-4058-b769-73a32109933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647E37EC11C8246B76D75C67DE7970E" ma:contentTypeVersion="17" ma:contentTypeDescription="Crie um novo documento." ma:contentTypeScope="" ma:versionID="59bcf617e04c2daac9f504d12ff5a883">
  <xsd:schema xmlns:xsd="http://www.w3.org/2001/XMLSchema" xmlns:xs="http://www.w3.org/2001/XMLSchema" xmlns:p="http://schemas.microsoft.com/office/2006/metadata/properties" xmlns:ns2="a6194295-1792-4b63-878c-b29c2ff82726" xmlns:ns3="49c50ba2-eaf4-4058-b769-73a32109933c" targetNamespace="http://schemas.microsoft.com/office/2006/metadata/properties" ma:root="true" ma:fieldsID="6866b81e5fe3156d5a79b021ac539ff4" ns2:_="" ns3:_="">
    <xsd:import namespace="a6194295-1792-4b63-878c-b29c2ff82726"/>
    <xsd:import namespace="49c50ba2-eaf4-4058-b769-73a3210993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194295-1792-4b63-878c-b29c2ff82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c50ba2-eaf4-4058-b769-73a32109933c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fbf75b8-6e79-4d53-aece-ace6fdf467fd}" ma:internalName="TaxCatchAll" ma:showField="CatchAllData" ma:web="49c50ba2-eaf4-4058-b769-73a3210993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70728C-C564-4F19-991F-61AEE70E38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FCB130-610E-42D1-96E6-E37A36A00C38}">
  <ds:schemaRefs>
    <ds:schemaRef ds:uri="http://schemas.microsoft.com/office/2006/metadata/properties"/>
    <ds:schemaRef ds:uri="http://schemas.microsoft.com/office/infopath/2007/PartnerControls"/>
    <ds:schemaRef ds:uri="eb947af2-26f0-411d-a536-f4cbb904cdf6"/>
    <ds:schemaRef ds:uri="5b046cae-d1d8-432d-b4bb-58d09b590569"/>
    <ds:schemaRef ds:uri="a6194295-1792-4b63-878c-b29c2ff82726"/>
    <ds:schemaRef ds:uri="49c50ba2-eaf4-4058-b769-73a32109933c"/>
  </ds:schemaRefs>
</ds:datastoreItem>
</file>

<file path=customXml/itemProps3.xml><?xml version="1.0" encoding="utf-8"?>
<ds:datastoreItem xmlns:ds="http://schemas.openxmlformats.org/officeDocument/2006/customXml" ds:itemID="{AAC9D098-7199-4C6B-B7F5-98BD2C2C582F}"/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2085</Words>
  <Application>Microsoft Office PowerPoint</Application>
  <PresentationFormat>Widescreen</PresentationFormat>
  <Paragraphs>104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Play</vt:lpstr>
      <vt:lpstr>Roboto</vt:lpstr>
      <vt:lpstr>Roboto Medium</vt:lpstr>
      <vt:lpstr>Times New Roman</vt:lpstr>
      <vt:lpstr>Wingdings</vt:lpstr>
      <vt:lpstr>Tema do Office</vt:lpstr>
      <vt:lpstr>1_Tema do Office</vt:lpstr>
      <vt:lpstr>PowerPoint Presentation</vt:lpstr>
      <vt:lpstr>PowerPoint Presentation</vt:lpstr>
      <vt:lpstr>NOME DA SOLUÇÃO/PROJETO</vt:lpstr>
      <vt:lpstr>NOME DA SOLUÇÃO/PROJETO</vt:lpstr>
      <vt:lpstr>CONTEXTUALIZAÇÃO DO PROBLEMA</vt:lpstr>
      <vt:lpstr>PowerPoint Presentation</vt:lpstr>
      <vt:lpstr>PowerPoint Presentation</vt:lpstr>
      <vt:lpstr>EXEMPLO DE PROBLEMA A SER RESOLVIDO</vt:lpstr>
      <vt:lpstr>PowerPoint Presentation</vt:lpstr>
      <vt:lpstr>PowerPoint Presentation</vt:lpstr>
      <vt:lpstr>PowerPoint Presentation</vt:lpstr>
      <vt:lpstr>PowerPoint Presentation</vt:lpstr>
      <vt:lpstr>EXEMPLO DE IMPACTOS DA SOLUÇÃO</vt:lpstr>
      <vt:lpstr>PowerPoint Presentation</vt:lpstr>
      <vt:lpstr>EXEMPLO DE BENEFÍCIOS ESPERADOS</vt:lpstr>
      <vt:lpstr>PowerPoint Presentation</vt:lpstr>
      <vt:lpstr>Finalização e Agradecimentos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solução</dc:title>
  <dc:creator>Claudio Jose Carvajal</dc:creator>
  <cp:lastModifiedBy>Salvio Padlipskas</cp:lastModifiedBy>
  <cp:revision>41</cp:revision>
  <dcterms:created xsi:type="dcterms:W3CDTF">2016-03-03T21:44:23Z</dcterms:created>
  <dcterms:modified xsi:type="dcterms:W3CDTF">2026-03-10T23:09:57Z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0x010100A647E37EC11C8246B76D75C67DE7970E</vt:lpwstr>
  </property>
  <property fmtid="{D5CDD505-2E9C-101B-9397-08002B2CF9AE}" pid="3" name="MediaServiceImageTags">
    <vt:lpwstr/>
  </property>
  <property fmtid="{D5CDD505-2E9C-101B-9397-08002B2CF9AE}" pid="4" name="Order">
    <vt:r8>148400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