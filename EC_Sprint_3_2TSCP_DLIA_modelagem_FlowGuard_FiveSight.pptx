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141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464040" y="1417320"/>
            <a:ext cx="1554480" cy="155448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400" b="1" dirty="0">
                <a:solidFill>
                  <a:srgbClr val="141B47"/>
                </a:solidFill>
                <a:latin typeface="Calibri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320040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0,20%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dos incidentes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quebram o OLA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8A33D"/>
                </a:solidFill>
                <a:latin typeface="Calibri"/>
              </a:rPr>
              <a:t>CHALLENGE FIAP × LOCAWEB  ·  SPRINT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00200"/>
            <a:ext cx="749807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Cambria"/>
              </a:rPr>
              <a:t>FlowGuard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7223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EAF0FB"/>
                </a:solidFill>
                <a:latin typeface="Calibri"/>
              </a:rPr>
              <a:t>Motor Preditivo de Quebra de OLA com Deep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7223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9FADDD"/>
                </a:solidFill>
                <a:latin typeface="Calibri"/>
              </a:rPr>
              <a:t>Artificial Intelligence e Deep Learning Application — Modelagem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160520"/>
            <a:ext cx="2926080" cy="17780"/>
          </a:xfrm>
          <a:prstGeom prst="rect">
            <a:avLst/>
          </a:prstGeom>
          <a:solidFill>
            <a:srgbClr val="3A4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Grupo FiveSight   ·   Turma 2TSCPV   ·   Projeto FlowGuard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92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9FADDD"/>
                </a:solidFill>
                <a:latin typeface="Calibri"/>
              </a:rPr>
              <a:t>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892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9FADDD"/>
                </a:solidFill>
                <a:latin typeface="Calibri"/>
              </a:rPr>
              <a:t>INTEGRANTE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0293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EAF0FB"/>
                </a:solidFill>
                <a:latin typeface="Calibri"/>
              </a:rPr>
              <a:t>566274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202936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Arthur Nishiyama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95544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EAF0FB"/>
                </a:solidFill>
                <a:latin typeface="Calibri"/>
              </a:rPr>
              <a:t>561541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495544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Diogo Santana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88151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EAF0FB"/>
                </a:solidFill>
                <a:latin typeface="Calibri"/>
              </a:rPr>
              <a:t>562481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788151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Isabella Mattar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080759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EAF0FB"/>
                </a:solidFill>
                <a:latin typeface="Calibri"/>
              </a:rPr>
              <a:t>562733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6080759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Karen Akemi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8A33D"/>
                </a:solidFill>
                <a:latin typeface="Calibri"/>
              </a:rPr>
              <a:t>1. PREPARAÇÃO DOS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Preparação dos Dados e Engenharia de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B1F3B"/>
                </a:solidFill>
                <a:latin typeface="Calibri"/>
              </a:rPr>
              <a:t>Base: LW-DATASET.xlsx — 122.543 incidentes da Locaweb (jan/2023 a dez/2025).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66751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 b="1">
                <a:solidFill>
                  <a:srgbClr val="1B1F3B"/>
                </a:solidFill>
                <a:latin typeface="Calibri"/>
              </a:rPr>
              <a:t>—  Tratamento de nulos:  </a:t>
            </a:r>
            <a:r>
              <a:rPr sz="1300" b="0">
                <a:solidFill>
                  <a:srgbClr val="1B1F3B"/>
                </a:solidFill>
                <a:latin typeface="Calibri"/>
              </a:rPr>
              <a:t>colunas categóricas ausentes (Produto, Categoria, Subcategoria) preenchidas como “Desconhecido”; datas de abertura inválidas descartadas.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 b="1">
                <a:solidFill>
                  <a:srgbClr val="1B1F3B"/>
                </a:solidFill>
                <a:latin typeface="Calibri"/>
              </a:rPr>
              <a:t>—  Codificações:  </a:t>
            </a:r>
            <a:r>
              <a:rPr sz="1300" b="0">
                <a:solidFill>
                  <a:srgbClr val="1B1F3B"/>
                </a:solidFill>
                <a:latin typeface="Calibri"/>
              </a:rPr>
              <a:t>variáveis categóricas (Prioridade, Categoria, Produto, Grupo designado, Aberto por, Cluster de chegada) via One-Hot Encoding.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 b="1">
                <a:solidFill>
                  <a:srgbClr val="1B1F3B"/>
                </a:solidFill>
                <a:latin typeface="Calibri"/>
              </a:rPr>
              <a:t>—  Normalização:  </a:t>
            </a:r>
            <a:r>
              <a:rPr sz="1300" b="0">
                <a:solidFill>
                  <a:srgbClr val="1B1F3B"/>
                </a:solidFill>
                <a:latin typeface="Calibri"/>
              </a:rPr>
              <a:t>variáveis numéricas (hora de abertura, dia da semana) padronizadas com StandardScaler (média 0, desvio 1).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 b="1">
                <a:solidFill>
                  <a:srgbClr val="1B1F3B"/>
                </a:solidFill>
                <a:latin typeface="Calibri"/>
              </a:rPr>
              <a:t>—  Features de calendário criadas:  </a:t>
            </a:r>
            <a:r>
              <a:rPr sz="1300" b="0">
                <a:solidFill>
                  <a:srgbClr val="1B1F3B"/>
                </a:solidFill>
                <a:latin typeface="Calibri"/>
              </a:rPr>
              <a:t>hora_abertura e dia_semana_abertura, extraídas do timestamp de abertura do chamado.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 b="1">
                <a:solidFill>
                  <a:srgbClr val="1B1F3B"/>
                </a:solidFill>
                <a:latin typeface="Calibri"/>
              </a:rPr>
              <a:t>—  Feature de clusterização:  </a:t>
            </a:r>
            <a:r>
              <a:rPr sz="1300" b="0">
                <a:solidFill>
                  <a:srgbClr val="1B1F3B"/>
                </a:solidFill>
                <a:latin typeface="Calibri"/>
              </a:rPr>
              <a:t>cluster_chegada (K-Means, k=3) agrupa incidentes por perfil de horário/dia de chegada.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 b="1">
                <a:solidFill>
                  <a:srgbClr val="1B1F3B"/>
                </a:solidFill>
                <a:latin typeface="Calibri"/>
              </a:rPr>
              <a:t>—  Correção de vazamento:  </a:t>
            </a:r>
            <a:r>
              <a:rPr sz="1300" b="0">
                <a:solidFill>
                  <a:srgbClr val="1B1F3B"/>
                </a:solidFill>
                <a:latin typeface="Calibri"/>
              </a:rPr>
              <a:t>a duração do atendimento foi removida das features — só existe depois que o incidente é resolvido (detalhe no próximo slide).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417320"/>
            <a:ext cx="4114800" cy="1417320"/>
          </a:xfrm>
          <a:prstGeom prst="roundRect">
            <a:avLst>
              <a:gd name="adj" fmla="val 10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18120" y="1581912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8A33D"/>
                </a:solidFill>
                <a:latin typeface="Cambria"/>
              </a:rPr>
              <a:t>220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194560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5A6282"/>
                </a:solidFill>
                <a:latin typeface="Calibri"/>
              </a:rPr>
              <a:t>colunas no vetor de entrada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5A6282"/>
                </a:solidFill>
                <a:latin typeface="Calibri"/>
              </a:rPr>
              <a:t>após One-Hot Encoding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3044952"/>
            <a:ext cx="4114800" cy="1417320"/>
          </a:xfrm>
          <a:prstGeom prst="roundRect">
            <a:avLst>
              <a:gd name="adj" fmla="val 10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18120" y="3209544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E05A4E"/>
                </a:solidFill>
                <a:latin typeface="Cambria"/>
              </a:rPr>
              <a:t>0,20%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3822191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5A6282"/>
                </a:solidFill>
                <a:latin typeface="Calibri"/>
              </a:rPr>
              <a:t>taxa de quebra de OLA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5A6282"/>
                </a:solidFill>
                <a:latin typeface="Calibri"/>
              </a:rPr>
              <a:t>(classe extremamente rara)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4672584"/>
            <a:ext cx="4114800" cy="1417320"/>
          </a:xfrm>
          <a:prstGeom prst="roundRect">
            <a:avLst>
              <a:gd name="adj" fmla="val 10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20" y="4837176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5449824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5A6282"/>
                </a:solidFill>
                <a:latin typeface="Calibri"/>
              </a:rPr>
              <a:t>perfis de chegada identificados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5A6282"/>
                </a:solidFill>
                <a:latin typeface="Calibri"/>
              </a:rPr>
              <a:t>pela clusterização K-Means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282"/>
                </a:solidFill>
                <a:latin typeface="Calibri"/>
              </a:rPr>
              <a:t>FlowGuard · Deep Learning 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5105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282"/>
                </a:solidFill>
                <a:latin typeface="Calibri"/>
              </a:rPr>
              <a:t>Sprint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8A33D"/>
                </a:solidFill>
                <a:latin typeface="Calibri"/>
              </a:rPr>
              <a:t>RIGOR METODOLÓGICO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Vazamento de Dados: Identificado e Corrigido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212080" cy="3246120"/>
          </a:xfrm>
          <a:prstGeom prst="roundRect">
            <a:avLst>
              <a:gd name="adj" fmla="val 6000"/>
            </a:avLst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E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1051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E05A4E"/>
                </a:solidFill>
                <a:latin typeface="Cambria"/>
              </a:rPr>
              <a:t>Versão com vazamento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4805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E05A4E"/>
                </a:solidFill>
                <a:latin typeface="Calibri"/>
              </a:rPr>
              <a:t>—  </a:t>
            </a:r>
            <a:r>
              <a:rPr sz="1250">
                <a:solidFill>
                  <a:srgbClr val="1B1F3B"/>
                </a:solidFill>
                <a:latin typeface="Calibri"/>
              </a:rPr>
              <a:t>tempo_resolucao_horas e um cluster derivado dela entravam como features do modelo.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E05A4E"/>
                </a:solidFill>
                <a:latin typeface="Calibri"/>
              </a:rPr>
              <a:t>—  </a:t>
            </a:r>
            <a:r>
              <a:rPr sz="1250">
                <a:solidFill>
                  <a:srgbClr val="1B1F3B"/>
                </a:solidFill>
                <a:latin typeface="Calibri"/>
              </a:rPr>
              <a:t>Essa duração só existe DEPOIS que o incidente é resolvido — mas o modelo precisa decidir o risco na ABERTURA do chamado.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E05A4E"/>
                </a:solidFill>
                <a:latin typeface="Calibri"/>
              </a:rPr>
              <a:t>—  </a:t>
            </a:r>
            <a:r>
              <a:rPr sz="1250">
                <a:solidFill>
                  <a:srgbClr val="1B1F3B"/>
                </a:solidFill>
                <a:latin typeface="Calibri"/>
              </a:rPr>
              <a:t>O próprio target é definido comparando a duração a um limite de SLA: usar a duração como feature é dar a resposta ao modelo.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212080" cy="3246120"/>
          </a:xfrm>
          <a:prstGeom prst="roundRect">
            <a:avLst>
              <a:gd name="adj" fmla="val 6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37960" y="1783080"/>
            <a:ext cx="548640" cy="54864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81051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2E8B57"/>
                </a:solidFill>
                <a:latin typeface="Cambria"/>
              </a:rPr>
              <a:t>Versão corrigida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514600"/>
            <a:ext cx="44805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2E8B57"/>
                </a:solidFill>
                <a:latin typeface="Calibri"/>
              </a:rPr>
              <a:t>—  </a:t>
            </a:r>
            <a:r>
              <a:rPr sz="1250">
                <a:solidFill>
                  <a:srgbClr val="1B1F3B"/>
                </a:solidFill>
                <a:latin typeface="Calibri"/>
              </a:rPr>
              <a:t>Duração removida das features — mantida só como referência de EDA, nunca como entrada do modelo.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2E8B57"/>
                </a:solidFill>
                <a:latin typeface="Calibri"/>
              </a:rPr>
              <a:t>—  </a:t>
            </a:r>
            <a:r>
              <a:rPr sz="1250">
                <a:solidFill>
                  <a:srgbClr val="1B1F3B"/>
                </a:solidFill>
                <a:latin typeface="Calibri"/>
              </a:rPr>
              <a:t>Features usam somente informação disponível na abertura: Prioridade, Categoria, Produto, Equipe, Canal, hora e dia da semana.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2E8B57"/>
                </a:solidFill>
                <a:latin typeface="Calibri"/>
              </a:rPr>
              <a:t>—  </a:t>
            </a:r>
            <a:r>
              <a:rPr sz="1250">
                <a:solidFill>
                  <a:srgbClr val="1B1F3B"/>
                </a:solidFill>
                <a:latin typeface="Calibri"/>
              </a:rPr>
              <a:t>Clusterização recalculada a partir do horário de abertura (“perfil de chegada”), não da duração.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12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5257800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1">
                <a:solidFill>
                  <a:srgbClr val="1E2761"/>
                </a:solidFill>
                <a:latin typeface="Calibri"/>
              </a:rPr>
              <a:t>Mesmo tipo de problema identificado e banido pela seção de auditoria de Data Leakage do notebook de Machine Learning do grupo — lá, para a variável “Duração”, pelo mesmo motivo.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282"/>
                </a:solidFill>
                <a:latin typeface="Calibri"/>
              </a:rPr>
              <a:t>FlowGuard · Deep Learning 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105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282"/>
                </a:solidFill>
                <a:latin typeface="Calibri"/>
              </a:rPr>
              <a:t>Sprint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8A33D"/>
                </a:solidFill>
                <a:latin typeface="Calibri"/>
              </a:rPr>
              <a:t>2. DEFINIÇÃO DE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Baseline: Sempre Prever “Não Vai Quebrar”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30936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 i="0">
                <a:solidFill>
                  <a:srgbClr val="1B1F3B"/>
                </a:solidFill>
                <a:latin typeface="Calibri"/>
              </a:rPr>
              <a:t>Como a quebra de OLA é rara (0,20% dos incidentes), o baseline mais simples e mais informativo é prever sempre a classe majoritária — “nunca vai quebrar”. Ele custa zero para implementar e expõe diretamente o problema da Acurácia como métrica: um baseline que erra 100% dos casos que realmente importam ainda parece excelente olhando só para a acurácia geral.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49039"/>
            <a:ext cx="6309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1">
                <a:solidFill>
                  <a:srgbClr val="1E2761"/>
                </a:solidFill>
                <a:latin typeface="Calibri"/>
              </a:rPr>
              <a:t>Nenhuma melhoria de modelo vale a pena se não superar isso.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508760"/>
            <a:ext cx="4434840" cy="1828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0" y="173736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99,8%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6974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EAF0FB"/>
                </a:solidFill>
                <a:latin typeface="Calibri"/>
              </a:rPr>
              <a:t>acurácia geral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3520440"/>
            <a:ext cx="4434840" cy="1828800"/>
          </a:xfrm>
          <a:prstGeom prst="roundRect">
            <a:avLst>
              <a:gd name="adj" fmla="val 8000"/>
            </a:avLst>
          </a:prstGeom>
          <a:solidFill>
            <a:srgbClr val="E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0" y="3749039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0,00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470916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Recall na classe de quebra de OLA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282"/>
                </a:solidFill>
                <a:latin typeface="Calibri"/>
              </a:rPr>
              <a:t>FlowGuard · Deep Learning 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105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282"/>
                </a:solidFill>
                <a:latin typeface="Calibri"/>
              </a:rPr>
              <a:t>Sprint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8A33D"/>
                </a:solidFill>
                <a:latin typeface="Calibri"/>
              </a:rPr>
              <a:t>3. MODELO CLÁSSICO INICIAL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Regressão Logística como Etapa de Comparação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63093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0" i="0">
                <a:solidFill>
                  <a:srgbClr val="1B1F3B"/>
                </a:solidFill>
                <a:latin typeface="Calibri"/>
              </a:rPr>
              <a:t>Antes de justificar a Rede Neural, treinamos uma Regressão Logística com class_weight balanceado sobre exatamente as mesmas features (sem vazamento) e o mesmo split treino/teste. É um modelo linear, rápido de treinar e fácil de auditar — se ele já captura boa parte do sinal, isso já é informação valiosa.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29000"/>
            <a:ext cx="6309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Limitações discutidas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3093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1B1F3B"/>
                </a:solidFill>
                <a:latin typeface="Calibri"/>
              </a:rPr>
              <a:t>—  </a:t>
            </a:r>
            <a:r>
              <a:rPr sz="1300">
                <a:solidFill>
                  <a:srgbClr val="1B1F3B"/>
                </a:solidFill>
                <a:latin typeface="Calibri"/>
              </a:rPr>
              <a:t>Modelo linear no espaço das features: não captura interações entre variáveis categóricas.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1B1F3B"/>
                </a:solidFill>
                <a:latin typeface="Calibri"/>
              </a:rPr>
              <a:t>—  </a:t>
            </a:r>
            <a:r>
              <a:rPr sz="1300">
                <a:solidFill>
                  <a:srgbClr val="1B1F3B"/>
                </a:solidFill>
                <a:latin typeface="Calibri"/>
              </a:rPr>
              <a:t>Ex.: “prioridade alta + equipe X + horário Y” pode ter efeito conjunto diferente da soma dos efeitos individuais — é esse padrão não-linear que a ANN tenta capturar melhor.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463040"/>
            <a:ext cx="4434840" cy="1325880"/>
          </a:xfrm>
          <a:prstGeom prst="roundRect">
            <a:avLst>
              <a:gd name="adj" fmla="val 10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3800" y="1609344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E8A33D"/>
                </a:solidFill>
                <a:latin typeface="Cambria"/>
              </a:rPr>
              <a:t>0,82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87452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A6282"/>
                </a:solidFill>
                <a:latin typeface="Calibri"/>
              </a:rPr>
              <a:t>Recall (classe 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2971800"/>
            <a:ext cx="4434840" cy="1325880"/>
          </a:xfrm>
          <a:prstGeom prst="roundRect">
            <a:avLst>
              <a:gd name="adj" fmla="val 10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3118104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0,016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3832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A6282"/>
                </a:solidFill>
                <a:latin typeface="Calibri"/>
              </a:rPr>
              <a:t>Precisão (classe 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4480560"/>
            <a:ext cx="4434840" cy="1325880"/>
          </a:xfrm>
          <a:prstGeom prst="roundRect">
            <a:avLst>
              <a:gd name="adj" fmla="val 10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800" y="4626864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2E8B57"/>
                </a:solidFill>
                <a:latin typeface="Cambria"/>
              </a:rPr>
              <a:t>0,952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89204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A6282"/>
                </a:solidFill>
                <a:latin typeface="Calibri"/>
              </a:rPr>
              <a:t>ROC-AUC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282"/>
                </a:solidFill>
                <a:latin typeface="Calibri"/>
              </a:rPr>
              <a:t>FlowGuard · Deep Learning Application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5105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282"/>
                </a:solidFill>
                <a:latin typeface="Calibri"/>
              </a:rPr>
              <a:t>Sprint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8A33D"/>
                </a:solidFill>
                <a:latin typeface="Calibri"/>
              </a:rPr>
              <a:t>4. AVALIAÇÃO E MÉTRICAS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Comparativo: Baseline vs. Clássico vs. ANN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4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L="13716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13716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Precisão</a:t>
                      </a:r>
                    </a:p>
                  </a:txBody>
                  <a:tcPr marL="13716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137160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 marL="137160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B1F3B"/>
                          </a:solidFill>
                          <a:latin typeface="Calibri"/>
                        </a:rPr>
                        <a:t>Baseline (classe majoritária)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E2761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B1F3B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B1F3B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B1F3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B1F3B"/>
                          </a:solidFill>
                          <a:latin typeface="Calibri"/>
                        </a:rPr>
                        <a:t>Regressão Logística (clássico)</a:t>
                      </a:r>
                    </a:p>
                  </a:txBody>
                  <a:tcPr marL="137160" anchor="ctr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E2761"/>
                          </a:solidFill>
                          <a:latin typeface="Calibri"/>
                        </a:rPr>
                        <a:t>0,82</a:t>
                      </a:r>
                    </a:p>
                  </a:txBody>
                  <a:tcPr marL="137160" anchor="ctr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B1F3B"/>
                          </a:solidFill>
                          <a:latin typeface="Calibri"/>
                        </a:rPr>
                        <a:t>0,016</a:t>
                      </a:r>
                    </a:p>
                  </a:txBody>
                  <a:tcPr marL="137160" anchor="ctr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B1F3B"/>
                          </a:solidFill>
                          <a:latin typeface="Calibri"/>
                        </a:rPr>
                        <a:t>0,031</a:t>
                      </a:r>
                    </a:p>
                  </a:txBody>
                  <a:tcPr marL="137160" anchor="ctr"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B1F3B"/>
                          </a:solidFill>
                          <a:latin typeface="Calibri"/>
                        </a:rPr>
                        <a:t>0,952</a:t>
                      </a:r>
                    </a:p>
                  </a:txBody>
                  <a:tcPr marL="137160" anchor="ctr">
                    <a:solidFill>
                      <a:srgbClr val="EA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B1F3B"/>
                          </a:solidFill>
                          <a:latin typeface="Calibri"/>
                        </a:rPr>
                        <a:t>ANN — Modelo Complexo</a:t>
                      </a:r>
                    </a:p>
                  </a:txBody>
                  <a:tcPr marL="137160" anchor="ctr"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E8A33D"/>
                          </a:solidFill>
                          <a:latin typeface="Calibri"/>
                        </a:rPr>
                        <a:t>0,88</a:t>
                      </a:r>
                    </a:p>
                  </a:txBody>
                  <a:tcPr marL="137160" anchor="ctr"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B1F3B"/>
                          </a:solidFill>
                          <a:latin typeface="Calibri"/>
                        </a:rPr>
                        <a:t>0,020</a:t>
                      </a:r>
                    </a:p>
                  </a:txBody>
                  <a:tcPr marL="137160" anchor="ctr"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B1F3B"/>
                          </a:solidFill>
                          <a:latin typeface="Calibri"/>
                        </a:rPr>
                        <a:t>0,030</a:t>
                      </a:r>
                    </a:p>
                  </a:txBody>
                  <a:tcPr marL="137160" anchor="ctr"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B1F3B"/>
                          </a:solidFill>
                          <a:latin typeface="Calibri"/>
                        </a:rPr>
                        <a:t>0,942</a:t>
                      </a:r>
                    </a:p>
                  </a:txBody>
                  <a:tcPr marL="137160" anchor="ctr">
                    <a:solidFill>
                      <a:srgbClr val="FDF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5196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1">
                <a:solidFill>
                  <a:srgbClr val="5A6282"/>
                </a:solidFill>
                <a:latin typeface="Calibri"/>
              </a:rPr>
              <a:t>Métricas calculadas sobre a classe de interesse (quebra de OLA).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mbria"/>
              </a:rPr>
              <a:t>Recall é a métrica prioritária de negócio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1064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1B1F3B"/>
                </a:solidFill>
                <a:latin typeface="Calibri"/>
              </a:rPr>
              <a:t>O custo de um Falso Negativo (dizer que o OLA não vai quebrar, quando na verdade quebra) é muito maior que o custo de um Falso Positivo. A ANN supera o baseline por larga margem e supera ligeiramente o modelo clássico — um ganho honesto, não inflado por vazamento de dados.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282"/>
                </a:solidFill>
                <a:latin typeface="Calibri"/>
              </a:rPr>
              <a:t>FlowGuard · Deep Learning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105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282"/>
                </a:solidFill>
                <a:latin typeface="Calibri"/>
              </a:rPr>
              <a:t>Sprint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8A33D"/>
                </a:solidFill>
                <a:latin typeface="Calibri"/>
              </a:rPr>
              <a:t>5. EVIDÊNCIAS DE EXPERIMENTAÇÃO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Reprodutibilidade do Processo</a:t>
            </a:r>
          </a:p>
        </p:txBody>
      </p:sp>
      <p:sp>
        <p:nvSpPr>
          <p:cNvPr id="5" name="Oval 4"/>
          <p:cNvSpPr/>
          <p:nvPr/>
        </p:nvSpPr>
        <p:spPr>
          <a:xfrm>
            <a:off x="585216" y="1517904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Dataset e versionamento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47088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A6282"/>
                </a:solidFill>
                <a:latin typeface="Calibri"/>
              </a:rPr>
              <a:t>LW-DATASET.xlsx (122.543 incidentes, 02/01/2023 a 31/12/2025) — mesmo arquivo-fonte usado pelas disciplinas de Machine Learning e Data Visualization.</a:t>
            </a:r>
          </a:p>
        </p:txBody>
      </p:sp>
      <p:sp>
        <p:nvSpPr>
          <p:cNvPr id="8" name="Oval 7"/>
          <p:cNvSpPr/>
          <p:nvPr/>
        </p:nvSpPr>
        <p:spPr>
          <a:xfrm>
            <a:off x="585216" y="2450592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41448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Seed fixa em todo o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779776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A6282"/>
                </a:solidFill>
                <a:latin typeface="Calibri"/>
              </a:rPr>
              <a:t>random_state = 42 no split, na clusterização K-Means, na Regressão Logística e nas 3 configurações de ANN — a comparação entre modelos não depende de sorte de inicialização.</a:t>
            </a:r>
          </a:p>
        </p:txBody>
      </p:sp>
      <p:sp>
        <p:nvSpPr>
          <p:cNvPr id="11" name="Oval 10"/>
          <p:cNvSpPr/>
          <p:nvPr/>
        </p:nvSpPr>
        <p:spPr>
          <a:xfrm>
            <a:off x="585216" y="338328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374136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Divisão treino/teste/validação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12463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A6282"/>
                </a:solidFill>
                <a:latin typeface="Calibri"/>
              </a:rPr>
              <a:t>train_test_split 80/20 com stratify=y (obrigatório dado que a classe positiva é 0,20% da base); cada ANN reserva ainda 20% do treino para validação interna (validation_split=0,2).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" y="4315968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306824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Tabela de experimentos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45152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A6282"/>
                </a:solidFill>
                <a:latin typeface="Calibri"/>
              </a:rPr>
              <a:t>5 configurações testadas sobre o mesmo split e as mesmas features: Baseline, Regressão Logística, Modelo_Base, Modelo_Complexo e Modelo_Alto_Dropout (ANN).</a:t>
            </a:r>
          </a:p>
        </p:txBody>
      </p:sp>
      <p:sp>
        <p:nvSpPr>
          <p:cNvPr id="17" name="Oval 16"/>
          <p:cNvSpPr/>
          <p:nvPr/>
        </p:nvSpPr>
        <p:spPr>
          <a:xfrm>
            <a:off x="585216" y="5248656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239512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Controle de overfitting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577840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A6282"/>
                </a:solidFill>
                <a:latin typeface="Calibri"/>
              </a:rPr>
              <a:t>EarlyStopping monitorando val_loss com restore_best_weights=True em todas as ANN — substitui a cross-validation formal nesta etapa de MVP, dado o custo computacional e o tamanho da base.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282"/>
                </a:solidFill>
                <a:latin typeface="Calibri"/>
              </a:rPr>
              <a:t>FlowGuard · Deep Learning Application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5105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282"/>
                </a:solidFill>
                <a:latin typeface="Calibri"/>
              </a:rPr>
              <a:t>Sprint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8A33D"/>
                </a:solidFill>
                <a:latin typeface="Calibri"/>
              </a:rPr>
              <a:t>PRINTS DO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Evidência Visual da Execução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1">
                <a:solidFill>
                  <a:srgbClr val="5A6282"/>
                </a:solidFill>
                <a:latin typeface="Calibri"/>
              </a:rPr>
              <a:t>Capturas de tela retiradas diretamente da execução do notebook EC_Sprint_3_FLOWGUARD_FIVESIGHT_DeepL.ipynb.</a:t>
            </a:r>
          </a:p>
        </p:txBody>
      </p:sp>
      <p:pic>
        <p:nvPicPr>
          <p:cNvPr id="6" name="Picture 5" descr="loss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6949440" cy="22869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92040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1B1F3B"/>
                </a:solidFill>
                <a:latin typeface="Calibri"/>
              </a:rPr>
              <a:t>Curvas de perda (treino x validação) das 3 arquiteturas de ANN testadas.</a:t>
            </a:r>
          </a:p>
        </p:txBody>
      </p:sp>
      <p:pic>
        <p:nvPicPr>
          <p:cNvPr id="8" name="Picture 7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874519"/>
            <a:ext cx="3474720" cy="25912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5279" y="489204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B1F3B"/>
                </a:solidFill>
                <a:latin typeface="Calibri"/>
              </a:rPr>
              <a:t>Matriz de confusão — ANN (Modelo Complexo) no conjunto de teste.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282"/>
                </a:solidFill>
                <a:latin typeface="Calibri"/>
              </a:rPr>
              <a:t>FlowGuard · Deep Learning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105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282"/>
                </a:solidFill>
                <a:latin typeface="Calibri"/>
              </a:rPr>
              <a:t>Sprint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8A33D"/>
                </a:solidFill>
                <a:latin typeface="Calibri"/>
              </a:rPr>
              <a:t>6. INTERPRETAÇÃO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O que os Resultados Indicam e 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5257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mbria"/>
              </a:rPr>
              <a:t>O que os resultados indicam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52578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—  </a:t>
            </a:r>
            <a:r>
              <a:rPr sz="1300">
                <a:solidFill>
                  <a:srgbClr val="1B1F3B"/>
                </a:solidFill>
                <a:latin typeface="Calibri"/>
              </a:rPr>
              <a:t>A ANN supera o baseline por larga margem, mas o ganho sobre o modelo clássico é modesto — o sinal disponível nas features de abertura é majoritariamente linear.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—  </a:t>
            </a:r>
            <a:r>
              <a:rPr sz="1300">
                <a:solidFill>
                  <a:srgbClr val="1B1F3B"/>
                </a:solidFill>
                <a:latin typeface="Calibri"/>
              </a:rPr>
              <a:t>Sem sinais fortes de overfitting: o EarlyStopping interrompeu o treino cedo (5 a 15 épocas) e restaurou os melhores pesos de validação em todas as configurações.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E8A33D"/>
                </a:solidFill>
                <a:latin typeface="Calibri"/>
              </a:rPr>
              <a:t>—  </a:t>
            </a:r>
            <a:r>
              <a:rPr sz="1300">
                <a:solidFill>
                  <a:srgbClr val="1B1F3B"/>
                </a:solidFill>
                <a:latin typeface="Calibri"/>
              </a:rPr>
              <a:t>Precisão baixa em todos os modelos (Recall alto, Precisão ~0,02) é esperado dado o desbalanceamento extremo (1 quebra para cada ~494 incidentes elegíveis) — não é falha de implementação.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508760"/>
            <a:ext cx="5257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mbria"/>
              </a:rPr>
              <a:t>Melhorias objetivas — Sprint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965960"/>
            <a:ext cx="52578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2E8B57"/>
                </a:solidFill>
                <a:latin typeface="Calibri"/>
              </a:rPr>
              <a:t>—  </a:t>
            </a:r>
            <a:r>
              <a:rPr sz="1300" b="1">
                <a:solidFill>
                  <a:srgbClr val="1B1F3B"/>
                </a:solidFill>
                <a:latin typeface="Calibri"/>
              </a:rPr>
              <a:t>Novas features:  </a:t>
            </a:r>
            <a:r>
              <a:rPr sz="1300" b="0">
                <a:solidFill>
                  <a:srgbClr val="1B1F3B"/>
                </a:solidFill>
                <a:latin typeface="Calibri"/>
              </a:rPr>
              <a:t>carga atual da equipe e histórico recente do item de configuração.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2E8B57"/>
                </a:solidFill>
                <a:latin typeface="Calibri"/>
              </a:rPr>
              <a:t>—  </a:t>
            </a:r>
            <a:r>
              <a:rPr sz="1300" b="1">
                <a:solidFill>
                  <a:srgbClr val="1B1F3B"/>
                </a:solidFill>
                <a:latin typeface="Calibri"/>
              </a:rPr>
              <a:t>Modelos de árvore:  </a:t>
            </a:r>
            <a:r>
              <a:rPr sz="1300" b="0">
                <a:solidFill>
                  <a:srgbClr val="1B1F3B"/>
                </a:solidFill>
                <a:latin typeface="Calibri"/>
              </a:rPr>
              <a:t>testar Random Forest / Gradient Boosting para capturar interações não-lineares.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2E8B57"/>
                </a:solidFill>
                <a:latin typeface="Calibri"/>
              </a:rPr>
              <a:t>—  </a:t>
            </a:r>
            <a:r>
              <a:rPr sz="1300" b="1">
                <a:solidFill>
                  <a:srgbClr val="1B1F3B"/>
                </a:solidFill>
                <a:latin typeface="Calibri"/>
              </a:rPr>
              <a:t>Tuning mais extenso:  </a:t>
            </a:r>
            <a:r>
              <a:rPr sz="1300" b="0">
                <a:solidFill>
                  <a:srgbClr val="1B1F3B"/>
                </a:solidFill>
                <a:latin typeface="Calibri"/>
              </a:rPr>
              <a:t>grid/random search nos hiperparâmetros da ANN.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2E8B57"/>
                </a:solidFill>
                <a:latin typeface="Calibri"/>
              </a:rPr>
              <a:t>—  </a:t>
            </a:r>
            <a:r>
              <a:rPr sz="1300" b="1">
                <a:solidFill>
                  <a:srgbClr val="1B1F3B"/>
                </a:solidFill>
                <a:latin typeface="Calibri"/>
              </a:rPr>
              <a:t>Balanceamento:  </a:t>
            </a:r>
            <a:r>
              <a:rPr sz="1300" b="0">
                <a:solidFill>
                  <a:srgbClr val="1B1F3B"/>
                </a:solidFill>
                <a:latin typeface="Calibri"/>
              </a:rPr>
              <a:t>avaliar SMOTE ou undersampling controlado da classe majoritária.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2E8B57"/>
                </a:solidFill>
                <a:latin typeface="Calibri"/>
              </a:rPr>
              <a:t>—  </a:t>
            </a:r>
            <a:r>
              <a:rPr sz="1300" b="1">
                <a:solidFill>
                  <a:srgbClr val="1B1F3B"/>
                </a:solidFill>
                <a:latin typeface="Calibri"/>
              </a:rPr>
              <a:t>Threshold tuning:  </a:t>
            </a:r>
            <a:r>
              <a:rPr sz="1300" b="0">
                <a:solidFill>
                  <a:srgbClr val="1B1F3B"/>
                </a:solidFill>
                <a:latin typeface="Calibri"/>
              </a:rPr>
              <a:t>ajustar o limiar de decisão além do padrão 0,5, otimizando para Recall-alvo.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282"/>
                </a:solidFill>
                <a:latin typeface="Calibri"/>
              </a:rPr>
              <a:t>FlowGuard · Deep Learning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105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282"/>
                </a:solidFill>
                <a:latin typeface="Calibri"/>
              </a:rPr>
              <a:t>Sprint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8A33D"/>
                </a:solidFill>
                <a:latin typeface="Calibri"/>
              </a:rPr>
              <a:t>FINALIZAÇÃO E AGRADECIMENTOS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9728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Status da Modelagem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10698480" cy="1417320"/>
          </a:xfrm>
          <a:prstGeom prst="roundRect">
            <a:avLst>
              <a:gd name="adj" fmla="val 6000"/>
            </a:avLst>
          </a:prstGeom>
          <a:solidFill>
            <a:srgbClr val="141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 i="0">
                <a:solidFill>
                  <a:srgbClr val="EAF0FB"/>
                </a:solidFill>
                <a:latin typeface="Calibri"/>
              </a:rPr>
              <a:t>MVP técnico validado localmente: pipeline sem vazamento de dados, baseline e modelo clássico comparados a uma Rede Neural, com reprodutibilidade documentada (seeds, split estratificado, tabela de experimentos).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39312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Plano de Evolução — Sprint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6984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350" b="1">
                <a:solidFill>
                  <a:srgbClr val="E8A33D"/>
                </a:solidFill>
                <a:latin typeface="Calibri"/>
              </a:rPr>
              <a:t>—  </a:t>
            </a:r>
            <a:r>
              <a:rPr sz="1350" b="1">
                <a:solidFill>
                  <a:srgbClr val="FFFFFF"/>
                </a:solidFill>
                <a:latin typeface="Calibri"/>
              </a:rPr>
              <a:t>Modelo final:  </a:t>
            </a:r>
            <a:r>
              <a:rPr sz="1350" b="0">
                <a:solidFill>
                  <a:srgbClr val="FFFFFF"/>
                </a:solidFill>
                <a:latin typeface="Calibri"/>
              </a:rPr>
              <a:t>features enriquecidas + modelo de árvore ou ANN ajustada, escolhido pelo comparativo de Recall/ROC-AUC.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350" b="1">
                <a:solidFill>
                  <a:srgbClr val="E8A33D"/>
                </a:solidFill>
                <a:latin typeface="Calibri"/>
              </a:rPr>
              <a:t>—  </a:t>
            </a:r>
            <a:r>
              <a:rPr sz="1350" b="1">
                <a:solidFill>
                  <a:srgbClr val="FFFFFF"/>
                </a:solidFill>
                <a:latin typeface="Calibri"/>
              </a:rPr>
              <a:t>Explicabilidade:  </a:t>
            </a:r>
            <a:r>
              <a:rPr sz="1350" b="0">
                <a:solidFill>
                  <a:srgbClr val="FFFFFF"/>
                </a:solidFill>
                <a:latin typeface="Calibri"/>
              </a:rPr>
              <a:t>importância de variáveis (permutation importance / SHAP) para justificar cada alerta gerado.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350" b="1">
                <a:solidFill>
                  <a:srgbClr val="E8A33D"/>
                </a:solidFill>
                <a:latin typeface="Calibri"/>
              </a:rPr>
              <a:t>—  </a:t>
            </a:r>
            <a:r>
              <a:rPr sz="1350" b="1">
                <a:solidFill>
                  <a:srgbClr val="FFFFFF"/>
                </a:solidFill>
                <a:latin typeface="Calibri"/>
              </a:rPr>
              <a:t>Entrega executiva:  </a:t>
            </a:r>
            <a:r>
              <a:rPr sz="1350" b="0">
                <a:solidFill>
                  <a:srgbClr val="FFFFFF"/>
                </a:solidFill>
                <a:latin typeface="Calibri"/>
              </a:rPr>
              <a:t>modelo integrado ao FlowGuard em produção (Cloud Solutions) e refletido no dashboard (Data Visualization).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126480"/>
            <a:ext cx="2743200" cy="17780"/>
          </a:xfrm>
          <a:prstGeom prst="rect">
            <a:avLst/>
          </a:prstGeom>
          <a:solidFill>
            <a:srgbClr val="3A4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629107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9FADDD"/>
                </a:solidFill>
                <a:latin typeface="Calibri"/>
              </a:rPr>
              <a:t>Obrigado à Locaweb e à FIAP pelo desafio.  —  Grupo FiveSight (FlowGuard)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1452</Words>
  <Application>Microsoft Office PowerPoint</Application>
  <PresentationFormat>Widescreen</PresentationFormat>
  <Paragraphs>153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Karen Oliveira</cp:lastModifiedBy>
  <cp:revision>2</cp:revision>
  <dcterms:created xsi:type="dcterms:W3CDTF">2013-01-27T09:14:16Z</dcterms:created>
  <dcterms:modified xsi:type="dcterms:W3CDTF">2026-08-30T21:37:13Z</dcterms:modified>
  <cp:category/>
</cp:coreProperties>
</file>